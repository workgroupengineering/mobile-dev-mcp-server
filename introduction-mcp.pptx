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6"/>
  </p:notesMasterIdLst>
  <p:sldIdLst>
    <p:sldId id="380" r:id="rId2"/>
    <p:sldId id="324" r:id="rId3"/>
    <p:sldId id="374" r:id="rId4"/>
    <p:sldId id="2076136805" r:id="rId5"/>
    <p:sldId id="365" r:id="rId6"/>
    <p:sldId id="258" r:id="rId7"/>
    <p:sldId id="369" r:id="rId8"/>
    <p:sldId id="367" r:id="rId9"/>
    <p:sldId id="362" r:id="rId10"/>
    <p:sldId id="368" r:id="rId11"/>
    <p:sldId id="384" r:id="rId12"/>
    <p:sldId id="370" r:id="rId13"/>
    <p:sldId id="386" r:id="rId14"/>
    <p:sldId id="361" r:id="rId15"/>
    <p:sldId id="372" r:id="rId16"/>
    <p:sldId id="373" r:id="rId17"/>
    <p:sldId id="2076136803" r:id="rId18"/>
    <p:sldId id="375" r:id="rId19"/>
    <p:sldId id="262" r:id="rId20"/>
    <p:sldId id="364" r:id="rId21"/>
    <p:sldId id="363" r:id="rId22"/>
    <p:sldId id="388" r:id="rId23"/>
    <p:sldId id="382" r:id="rId24"/>
    <p:sldId id="378" r:id="rId25"/>
    <p:sldId id="390" r:id="rId26"/>
    <p:sldId id="376" r:id="rId27"/>
    <p:sldId id="377" r:id="rId28"/>
    <p:sldId id="2076136806" r:id="rId29"/>
    <p:sldId id="2076136808" r:id="rId30"/>
    <p:sldId id="2076136809" r:id="rId31"/>
    <p:sldId id="2076136807" r:id="rId32"/>
    <p:sldId id="379" r:id="rId33"/>
    <p:sldId id="318" r:id="rId34"/>
    <p:sldId id="203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84D2"/>
    <a:srgbClr val="AE2283"/>
    <a:srgbClr val="DA42AB"/>
    <a:srgbClr val="06AED0"/>
    <a:srgbClr val="E7E9EA"/>
    <a:srgbClr val="DBDBDD"/>
    <a:srgbClr val="E6AD45"/>
    <a:srgbClr val="471A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10" autoAdjust="0"/>
    <p:restoredTop sz="76995"/>
  </p:normalViewPr>
  <p:slideViewPr>
    <p:cSldViewPr snapToGrid="0" snapToObjects="1">
      <p:cViewPr varScale="1">
        <p:scale>
          <a:sx n="123" d="100"/>
          <a:sy n="123" d="100"/>
        </p:scale>
        <p:origin x="2504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4C884-B1D7-A043-A4AA-521744755A4B}" type="datetimeFigureOut">
              <a:rPr lang="en-US" smtClean="0"/>
              <a:t>4/9/25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097B6B-FF96-F443-AED4-FFB28983C4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60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E3ADE-F77E-D840-8786-3A1F7C089F7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69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97B6B-FF96-F443-AED4-FFB28983C4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05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7C1A6-3F6E-4A0C-A01A-2F04D27288E6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117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97B6B-FF96-F443-AED4-FFB28983C4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11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a50d170bb4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a50d170bb4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2a50d170bb4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2a50d170bb4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</a:t>
            </a:r>
            <a:r>
              <a:rPr lang="es-ES" dirty="0" err="1"/>
              <a:t>code.visualstudio.com</a:t>
            </a:r>
            <a:r>
              <a:rPr lang="es-ES" dirty="0"/>
              <a:t>/</a:t>
            </a:r>
            <a:r>
              <a:rPr lang="es-ES" dirty="0" err="1"/>
              <a:t>docs</a:t>
            </a:r>
            <a:r>
              <a:rPr lang="es-ES" dirty="0"/>
              <a:t>/</a:t>
            </a:r>
            <a:r>
              <a:rPr lang="es-ES" dirty="0" err="1"/>
              <a:t>copilot</a:t>
            </a:r>
            <a:r>
              <a:rPr lang="es-ES" dirty="0"/>
              <a:t>/chat/</a:t>
            </a:r>
            <a:r>
              <a:rPr lang="es-ES" dirty="0" err="1"/>
              <a:t>mcp</a:t>
            </a:r>
            <a:r>
              <a:rPr lang="es-ES" dirty="0"/>
              <a:t>-servers#_</a:t>
            </a:r>
            <a:r>
              <a:rPr lang="es-ES" dirty="0" err="1"/>
              <a:t>configuration-format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97B6B-FF96-F443-AED4-FFB28983C4F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11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ts val="1000"/>
              </a:spcBef>
            </a:pPr>
            <a:endParaRPr lang="en-US" sz="1400" dirty="0">
              <a:ea typeface="Calibr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B59DFEC3-DDF1-47FC-A429-F37F4C39664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34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1104" y="5670380"/>
            <a:ext cx="7835404" cy="884990"/>
          </a:xfrm>
          <a:noFill/>
        </p:spPr>
        <p:txBody>
          <a:bodyPr lIns="146304" tIns="109728" rIns="146304" bIns="109728" anchor="b">
            <a:noAutofit/>
          </a:bodyPr>
          <a:lstStyle>
            <a:lvl1pPr marL="0" indent="0">
              <a:spcBef>
                <a:spcPts val="0"/>
              </a:spcBef>
              <a:buNone/>
              <a:defRPr sz="1961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Presenter Title</a:t>
            </a:r>
          </a:p>
          <a:p>
            <a:pPr lvl="0"/>
            <a:r>
              <a:rPr lang="en-US" dirty="0"/>
              <a:t>Presenter Contact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9302" y="2075840"/>
            <a:ext cx="11653459" cy="1801436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3333">
                      <a:schemeClr val="tx1"/>
                    </a:gs>
                    <a:gs pos="3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269303" y="301617"/>
            <a:ext cx="3584143" cy="567015"/>
          </a:xfrm>
        </p:spPr>
        <p:txBody>
          <a:bodyPr lIns="182880" tIns="146304" rIns="182880" bIns="146304"/>
          <a:lstStyle>
            <a:lvl1pPr marL="0" indent="0">
              <a:buNone/>
              <a:defRPr sz="1961">
                <a:latin typeface="+mn-lt"/>
              </a:defRPr>
            </a:lvl1pPr>
            <a:lvl2pPr marL="336145" indent="0">
              <a:buNone/>
              <a:defRPr sz="1961"/>
            </a:lvl2pPr>
            <a:lvl3pPr marL="560241" indent="0">
              <a:buNone/>
              <a:defRPr sz="1961"/>
            </a:lvl3pPr>
            <a:lvl4pPr marL="784338" indent="0">
              <a:buNone/>
              <a:defRPr sz="1961"/>
            </a:lvl4pPr>
            <a:lvl5pPr marL="1008435" indent="0">
              <a:buNone/>
              <a:defRPr sz="1961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600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406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184808"/>
          </a:xfrm>
        </p:spPr>
        <p:txBody>
          <a:bodyPr>
            <a:spAutoFit/>
          </a:bodyPr>
          <a:lstStyle>
            <a:lvl3pPr>
              <a:defRPr sz="2353"/>
            </a:lvl3pPr>
            <a:lvl4pPr>
              <a:defRPr sz="1961"/>
            </a:lvl4pPr>
            <a:lvl5pPr>
              <a:defRPr sz="196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40950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317113" y="1635896"/>
            <a:ext cx="8605649" cy="4931036"/>
          </a:xfrm>
        </p:spPr>
        <p:txBody>
          <a:bodyPr wrap="square">
            <a:noAutofit/>
          </a:bodyPr>
          <a:lstStyle>
            <a:lvl3pPr>
              <a:defRPr sz="2353"/>
            </a:lvl3pPr>
            <a:lvl4pPr>
              <a:defRPr sz="1961"/>
            </a:lvl4pPr>
            <a:lvl5pPr>
              <a:defRPr sz="196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77582" y="1635896"/>
            <a:ext cx="2689274" cy="493103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353" b="0" i="0" u="none" strike="noStrike" kern="1200" cap="none" spc="0" normalizeH="0" baseline="0" dirty="0" smtClean="0">
                <a:ln>
                  <a:noFill/>
                </a:ln>
                <a:gradFill>
                  <a:gsLst>
                    <a:gs pos="100000">
                      <a:srgbClr val="000000">
                        <a:lumMod val="75000"/>
                        <a:lumOff val="25000"/>
                      </a:srgbClr>
                    </a:gs>
                    <a:gs pos="0">
                      <a:srgbClr val="000000">
                        <a:lumMod val="75000"/>
                        <a:lumOff val="2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89615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325827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635896"/>
            <a:ext cx="11653522" cy="4931036"/>
          </a:xfrm>
        </p:spPr>
        <p:txBody>
          <a:bodyPr wrap="square">
            <a:noAutofit/>
          </a:bodyPr>
          <a:lstStyle>
            <a:lvl3pPr>
              <a:defRPr sz="2353"/>
            </a:lvl3pPr>
            <a:lvl4pPr>
              <a:defRPr sz="1961"/>
            </a:lvl4pPr>
            <a:lvl5pPr>
              <a:defRPr sz="196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37427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635896"/>
            <a:ext cx="11653522" cy="4931036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336145" indent="0">
              <a:buNone/>
              <a:defRPr/>
            </a:lvl2pPr>
            <a:lvl3pPr marL="560241" indent="0">
              <a:buNone/>
              <a:defRPr sz="2353"/>
            </a:lvl3pPr>
            <a:lvl4pPr marL="784338" indent="0">
              <a:buNone/>
              <a:defRPr sz="1961"/>
            </a:lvl4pPr>
            <a:lvl5pPr marL="1008434" indent="0">
              <a:buNone/>
              <a:defRPr sz="196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8196909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664" y="2084173"/>
            <a:ext cx="9860672" cy="1793104"/>
          </a:xfrm>
        </p:spPr>
        <p:txBody>
          <a:bodyPr/>
          <a:lstStyle>
            <a:lvl1pPr>
              <a:defRPr sz="4705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9597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77582" y="1635896"/>
            <a:ext cx="2689274" cy="4931036"/>
          </a:xfrm>
        </p:spPr>
        <p:txBody>
          <a:bodyPr>
            <a:noAutofit/>
          </a:bodyPr>
          <a:lstStyle>
            <a:lvl1pPr marL="336145" indent="-336145">
              <a:buNone/>
              <a:defRPr kumimoji="0" lang="en-US" sz="2353" b="0" i="0" u="none" strike="noStrike" kern="1200" cap="none" spc="0" normalizeH="0" baseline="0" dirty="0" smtClean="0">
                <a:ln>
                  <a:noFill/>
                </a:ln>
                <a:gradFill>
                  <a:gsLst>
                    <a:gs pos="100000">
                      <a:srgbClr val="000000">
                        <a:lumMod val="75000"/>
                        <a:lumOff val="25000"/>
                      </a:srgbClr>
                    </a:gs>
                    <a:gs pos="0">
                      <a:srgbClr val="000000">
                        <a:lumMod val="75000"/>
                        <a:lumOff val="2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89615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322634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1504822"/>
          </a:xfrm>
        </p:spPr>
        <p:txBody>
          <a:bodyPr>
            <a:spAutoFit/>
          </a:bodyPr>
          <a:lstStyle>
            <a:lvl1pPr>
              <a:defRPr lang="en-US" sz="2353" kern="1200" dirty="0" smtClean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Consolas" pitchFamily="49" charset="0"/>
                <a:ea typeface="+mn-ea"/>
                <a:cs typeface="Consolas" pitchFamily="49" charset="0"/>
              </a:defRPr>
            </a:lvl1pPr>
            <a:lvl2pPr marL="572691" indent="-236546">
              <a:defRPr lang="en-US" sz="2353" kern="1200" dirty="0" smtClean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Consolas" pitchFamily="49" charset="0"/>
                <a:ea typeface="+mn-ea"/>
                <a:cs typeface="Consolas" pitchFamily="49" charset="0"/>
              </a:defRPr>
            </a:lvl2pPr>
            <a:lvl3pPr marL="560184" indent="-336145">
              <a:defRPr lang="en-US" sz="2353" kern="1200" dirty="0" smtClean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Consolas" pitchFamily="49" charset="0"/>
                <a:ea typeface="+mn-ea"/>
                <a:cs typeface="Consolas" pitchFamily="49" charset="0"/>
              </a:defRPr>
            </a:lvl3pPr>
            <a:lvl4pPr>
              <a:defRPr sz="1961"/>
            </a:lvl4pPr>
            <a:lvl5pPr>
              <a:defRPr sz="1961"/>
            </a:lvl5pPr>
          </a:lstStyle>
          <a:p>
            <a:pPr marL="0" lvl="0" indent="0" algn="l" defTabSz="896157" rtl="0" eaLnBrk="1" latinLnBrk="0" hangingPunct="1">
              <a:spcBef>
                <a:spcPct val="2000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896157" rtl="0" eaLnBrk="1" latinLnBrk="0" hangingPunct="1">
              <a:spcBef>
                <a:spcPct val="2000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896157" rtl="0" eaLnBrk="1" latinLnBrk="0" hangingPunct="1">
              <a:spcBef>
                <a:spcPct val="2000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/>
              <a:t>Third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089292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19237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Ide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021" y="1187621"/>
            <a:ext cx="11655840" cy="899665"/>
          </a:xfrm>
        </p:spPr>
        <p:txBody>
          <a:bodyPr/>
          <a:lstStyle>
            <a:lvl1pPr>
              <a:defRPr sz="7058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2222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306157" y="6099698"/>
            <a:ext cx="407895" cy="365125"/>
          </a:xfrm>
          <a:prstGeom prst="rect">
            <a:avLst/>
          </a:prstGeom>
        </p:spPr>
        <p:txBody>
          <a:bodyPr/>
          <a:lstStyle/>
          <a:p>
            <a:fld id="{72791EF6-4CC3-A645-99B4-EB889446B38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049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306157" y="6099698"/>
            <a:ext cx="407895" cy="365125"/>
          </a:xfrm>
          <a:prstGeom prst="rect">
            <a:avLst/>
          </a:prstGeom>
        </p:spPr>
        <p:txBody>
          <a:bodyPr/>
          <a:lstStyle/>
          <a:p>
            <a:fld id="{72791EF6-4CC3-A645-99B4-EB889446B38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790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306157" y="6099698"/>
            <a:ext cx="407895" cy="365125"/>
          </a:xfrm>
          <a:prstGeom prst="rect">
            <a:avLst/>
          </a:prstGeom>
        </p:spPr>
        <p:txBody>
          <a:bodyPr/>
          <a:lstStyle/>
          <a:p>
            <a:fld id="{72791EF6-4CC3-A645-99B4-EB889446B38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802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7169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53748" y="1189178"/>
            <a:ext cx="7769017" cy="2055306"/>
          </a:xfrm>
        </p:spPr>
        <p:txBody>
          <a:bodyPr wrap="square">
            <a:spAutoFit/>
          </a:bodyPr>
          <a:lstStyle>
            <a:lvl1pPr marL="0" indent="0">
              <a:buNone/>
              <a:defRPr baseline="0">
                <a:solidFill>
                  <a:srgbClr val="0A79D2"/>
                </a:solidFill>
              </a:defRPr>
            </a:lvl1pPr>
            <a:lvl2pPr marL="336072" marR="0" indent="0" algn="l" defTabSz="914344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lang="en-US" sz="2353" kern="1200" spc="0" baseline="0" dirty="0" smtClean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560121" marR="0" indent="0" algn="l" defTabSz="914344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lang="en-US" sz="1961" kern="1200" spc="0" baseline="0" dirty="0" smtClean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784167" marR="0" indent="0" algn="l" defTabSz="914344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lang="en-US" sz="1765" kern="1200" spc="0" baseline="0" dirty="0" smtClean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08216" marR="0" indent="0" algn="l" defTabSz="914344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lang="en-US" sz="1765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lang="en-US" sz="4705" b="0" kern="1200" cap="none" spc="-100" baseline="0" dirty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Speaker name</a:t>
            </a:r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9"/>
          </p:nvPr>
        </p:nvSpPr>
        <p:spPr>
          <a:xfrm>
            <a:off x="269241" y="1554113"/>
            <a:ext cx="3585699" cy="3586208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>
              <a:defRPr sz="1568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1587215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0" y="2326217"/>
            <a:ext cx="10972800" cy="2055306"/>
          </a:xfrm>
        </p:spPr>
        <p:txBody>
          <a:bodyPr/>
          <a:lstStyle>
            <a:lvl2pPr marL="766086" indent="-152371">
              <a:defRPr/>
            </a:lvl2pPr>
            <a:lvl3pPr marL="1371336" indent="-152371">
              <a:defRPr/>
            </a:lvl3pPr>
            <a:lvl4pPr marL="1985052" indent="-152371">
              <a:defRPr/>
            </a:lvl4pPr>
            <a:lvl5pPr marL="2590302" indent="-152371">
              <a:defRPr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609600" y="535941"/>
            <a:ext cx="10972800" cy="480731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1079501"/>
            <a:ext cx="10972800" cy="40267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32789" indent="0">
              <a:buNone/>
              <a:defRPr sz="1600">
                <a:solidFill>
                  <a:schemeClr val="tx1"/>
                </a:solidFill>
              </a:defRPr>
            </a:lvl2pPr>
            <a:lvl3pPr marL="457113" indent="0">
              <a:buNone/>
              <a:defRPr sz="1600">
                <a:solidFill>
                  <a:schemeClr val="tx1"/>
                </a:solidFill>
              </a:defRPr>
            </a:lvl3pPr>
            <a:lvl4pPr marL="689900" indent="0">
              <a:buNone/>
              <a:defRPr sz="1600">
                <a:solidFill>
                  <a:schemeClr val="tx1"/>
                </a:solidFill>
              </a:defRPr>
            </a:lvl4pPr>
            <a:lvl5pPr marL="914224" indent="0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8"/>
          </p:nvPr>
        </p:nvSpPr>
        <p:spPr>
          <a:xfrm>
            <a:off x="2570046" y="6347738"/>
            <a:ext cx="1465007" cy="184671"/>
          </a:xfrm>
          <a:prstGeom prst="rect">
            <a:avLst/>
          </a:prstGeom>
        </p:spPr>
        <p:txBody>
          <a:bodyPr/>
          <a:lstStyle/>
          <a:p>
            <a:fld id="{6DD3B76A-C5DE-4B9A-BEAE-BBF0DC17AAA8}" type="datetime1">
              <a:rPr lang="en-US" smtClean="0"/>
              <a:t>4/9/25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9"/>
          </p:nvPr>
        </p:nvSpPr>
        <p:spPr>
          <a:xfrm>
            <a:off x="931881" y="6347741"/>
            <a:ext cx="1638164" cy="184671"/>
          </a:xfrm>
          <a:prstGeom prst="rect">
            <a:avLst/>
          </a:prstGeom>
        </p:spPr>
        <p:txBody>
          <a:bodyPr/>
          <a:lstStyle/>
          <a:p>
            <a:r>
              <a:rPr lang="en-US"/>
              <a:t>Microsoft confidential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20"/>
          </p:nvPr>
        </p:nvSpPr>
        <p:spPr>
          <a:xfrm>
            <a:off x="609601" y="6347739"/>
            <a:ext cx="305235" cy="184672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40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BB46-D240-0C48-E103-6B3C0BE1C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2234C-CAA2-F182-D307-796B71F41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EC067-6104-BC71-B248-8F545523F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5CFCD-21CC-41A6-8052-0E0AFB2593B9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E7C21-9CE4-3C42-0346-5C22E0408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EA1EF-4CE5-8A1E-C845-77E27CA08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CA61-1C31-4D2D-84E3-4F0B994A02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99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5: Title, body and placeholder ">
  <p:cSld name="D5: Title, body and placeholder 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>
            <a:spLocks noGrp="1"/>
          </p:cNvSpPr>
          <p:nvPr>
            <p:ph type="sldNum" idx="12"/>
          </p:nvPr>
        </p:nvSpPr>
        <p:spPr>
          <a:xfrm>
            <a:off x="11008967" y="6278569"/>
            <a:ext cx="582800" cy="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18"/>
              <a:buNone/>
              <a:defRPr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18"/>
              <a:buNone/>
              <a:defRPr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18"/>
              <a:buNone/>
              <a:defRPr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18"/>
              <a:buNone/>
              <a:defRPr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18"/>
              <a:buNone/>
              <a:defRPr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18"/>
              <a:buNone/>
              <a:defRPr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18"/>
              <a:buNone/>
              <a:defRPr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18"/>
              <a:buNone/>
              <a:defRPr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18"/>
              <a:buNone/>
              <a:defRPr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‹Nº›</a:t>
            </a:fld>
            <a:endParaRPr lang="en"/>
          </a:p>
        </p:txBody>
      </p:sp>
      <p:sp>
        <p:nvSpPr>
          <p:cNvPr id="202" name="Google Shape;202;p31"/>
          <p:cNvSpPr txBox="1">
            <a:spLocks noGrp="1"/>
          </p:cNvSpPr>
          <p:nvPr>
            <p:ph type="title"/>
          </p:nvPr>
        </p:nvSpPr>
        <p:spPr>
          <a:xfrm>
            <a:off x="607700" y="593367"/>
            <a:ext cx="10984000" cy="10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31"/>
          <p:cNvSpPr>
            <a:spLocks noGrp="1"/>
          </p:cNvSpPr>
          <p:nvPr>
            <p:ph type="pic" idx="2"/>
          </p:nvPr>
        </p:nvSpPr>
        <p:spPr>
          <a:xfrm>
            <a:off x="607700" y="1828800"/>
            <a:ext cx="7260400" cy="3964400"/>
          </a:xfrm>
          <a:prstGeom prst="roundRect">
            <a:avLst>
              <a:gd name="adj" fmla="val 2630"/>
            </a:avLst>
          </a:prstGeom>
          <a:noFill/>
          <a:ln>
            <a:noFill/>
          </a:ln>
        </p:spPr>
      </p:sp>
      <p:sp>
        <p:nvSpPr>
          <p:cNvPr id="204" name="Google Shape;204;p31"/>
          <p:cNvSpPr txBox="1">
            <a:spLocks noGrp="1"/>
          </p:cNvSpPr>
          <p:nvPr>
            <p:ph type="body" idx="1"/>
          </p:nvPr>
        </p:nvSpPr>
        <p:spPr>
          <a:xfrm>
            <a:off x="8237367" y="1828800"/>
            <a:ext cx="3354400" cy="396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13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13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13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13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13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13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13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1333"/>
              </a:spcBef>
              <a:spcAft>
                <a:spcPts val="13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424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05203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06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709" r:id="rId4"/>
    <p:sldLayoutId id="2147483710" r:id="rId5"/>
    <p:sldLayoutId id="2147483665" r:id="rId6"/>
    <p:sldLayoutId id="2147483666" r:id="rId7"/>
    <p:sldLayoutId id="2147483670" r:id="rId8"/>
    <p:sldLayoutId id="2147483671" r:id="rId9"/>
    <p:sldLayoutId id="2147483679" r:id="rId10"/>
    <p:sldLayoutId id="2147483741" r:id="rId11"/>
    <p:sldLayoutId id="2147483742" r:id="rId12"/>
    <p:sldLayoutId id="2147483743" r:id="rId13"/>
    <p:sldLayoutId id="2147483744" r:id="rId14"/>
    <p:sldLayoutId id="2147483752" r:id="rId15"/>
    <p:sldLayoutId id="2147483753" r:id="rId16"/>
    <p:sldLayoutId id="2147483761" r:id="rId17"/>
    <p:sldLayoutId id="2147483762" r:id="rId18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4705" b="0" kern="1200" cap="none" spc="-10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aviersuarezruiz@Hot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contextprotocol.io/examples" TargetMode="External"/><Relationship Id="rId2" Type="http://schemas.openxmlformats.org/officeDocument/2006/relationships/hyperlink" Target="https://modelcontextprotocol.io/clients" TargetMode="Externa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modelcontextprotocol.io/clients" TargetMode="Externa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glama.ai/mcp/servers" TargetMode="External"/><Relationship Id="rId7" Type="http://schemas.openxmlformats.org/officeDocument/2006/relationships/image" Target="../media/image9.png"/><Relationship Id="rId2" Type="http://schemas.openxmlformats.org/officeDocument/2006/relationships/hyperlink" Target="https://mcp.so/servers" TargetMode="Externa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png"/><Relationship Id="rId5" Type="http://schemas.openxmlformats.org/officeDocument/2006/relationships/hyperlink" Target="https://www.pulsemcp.com/servers" TargetMode="External"/><Relationship Id="rId4" Type="http://schemas.openxmlformats.org/officeDocument/2006/relationships/hyperlink" Target="https://smithery.ai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pmjs.com/package/generator-mcp" TargetMode="External"/><Relationship Id="rId3" Type="http://schemas.openxmlformats.org/officeDocument/2006/relationships/hyperlink" Target="https://github.com/modelcontextprotocol/python-sdk" TargetMode="External"/><Relationship Id="rId7" Type="http://schemas.openxmlformats.org/officeDocument/2006/relationships/hyperlink" Target="https://modelcontextprotocol.io/docs/tools/inspector" TargetMode="External"/><Relationship Id="rId2" Type="http://schemas.openxmlformats.org/officeDocument/2006/relationships/hyperlink" Target="https://github.com/modelcontextprotocol/typescript-sdk" TargetMode="Externa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github.com/modelcontextprotocol/csharp-sdk" TargetMode="External"/><Relationship Id="rId5" Type="http://schemas.openxmlformats.org/officeDocument/2006/relationships/hyperlink" Target="https://github.com/modelcontextprotocol/kotlin-sdk" TargetMode="External"/><Relationship Id="rId4" Type="http://schemas.openxmlformats.org/officeDocument/2006/relationships/hyperlink" Target="https://github.com/modelcontextprotocol/java-sdk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uget.org/packages/ModelContextProtocol" TargetMode="Externa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pec.modelcontextprotocol.io/" TargetMode="External"/><Relationship Id="rId2" Type="http://schemas.openxmlformats.org/officeDocument/2006/relationships/hyperlink" Target="https://modelcontextprotocol.io/" TargetMode="Externa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github.com/modelcontextprotocol/csharp-sdk" TargetMode="External"/><Relationship Id="rId5" Type="http://schemas.openxmlformats.org/officeDocument/2006/relationships/hyperlink" Target="https://github.com/modelcontextprotocol/servers" TargetMode="External"/><Relationship Id="rId4" Type="http://schemas.openxmlformats.org/officeDocument/2006/relationships/hyperlink" Target="https://github.com/modelcontextprotocol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203837" cy="6858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A5134BE-88E8-4D76-88CE-31FD31237E89}"/>
              </a:ext>
            </a:extLst>
          </p:cNvPr>
          <p:cNvSpPr txBox="1">
            <a:spLocks/>
          </p:cNvSpPr>
          <p:nvPr/>
        </p:nvSpPr>
        <p:spPr>
          <a:xfrm>
            <a:off x="378097" y="1859255"/>
            <a:ext cx="7296331" cy="3139490"/>
          </a:xfrm>
          <a:prstGeom prst="rect">
            <a:avLst/>
          </a:prstGeom>
        </p:spPr>
        <p:txBody>
          <a:bodyPr/>
          <a:lstStyle>
            <a:lvl1pPr algn="l" defTabSz="91436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705" b="0" kern="1200" cap="none" spc="-100" baseline="0" dirty="0" smtClean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7200" dirty="0">
                <a:solidFill>
                  <a:schemeClr val="bg1"/>
                </a:solidFill>
              </a:rPr>
              <a:t>Introduction to Model Context Protocol (</a:t>
            </a:r>
            <a:r>
              <a:rPr lang="en-US" sz="7200" b="1" dirty="0">
                <a:solidFill>
                  <a:schemeClr val="bg1"/>
                </a:solidFill>
              </a:rPr>
              <a:t>MCP</a:t>
            </a:r>
            <a:r>
              <a:rPr lang="en-US" sz="7200" dirty="0">
                <a:solidFill>
                  <a:schemeClr val="bg1"/>
                </a:solidFill>
              </a:rPr>
              <a:t>)</a:t>
            </a:r>
            <a:endParaRPr lang="es-ES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27541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69240" y="1189495"/>
            <a:ext cx="11655841" cy="1292662"/>
          </a:xfrm>
        </p:spPr>
        <p:txBody>
          <a:bodyPr/>
          <a:lstStyle/>
          <a:p>
            <a:r>
              <a:rPr lang="es-ES" sz="4000" dirty="0"/>
              <a:t>Software </a:t>
            </a:r>
            <a:r>
              <a:rPr lang="es-ES" sz="4000" dirty="0" err="1"/>
              <a:t>Engineer</a:t>
            </a:r>
            <a:r>
              <a:rPr lang="es-ES" sz="4000" dirty="0"/>
              <a:t> at Microsoft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Javier Suárez Ruiz</a:t>
            </a:r>
          </a:p>
        </p:txBody>
      </p:sp>
      <p:sp>
        <p:nvSpPr>
          <p:cNvPr id="6" name="Text Placeholder 4"/>
          <p:cNvSpPr>
            <a:spLocks noGrp="1"/>
          </p:cNvSpPr>
          <p:nvPr/>
        </p:nvSpPr>
        <p:spPr>
          <a:xfrm>
            <a:off x="269240" y="4377014"/>
            <a:ext cx="11369585" cy="1383541"/>
          </a:xfrm>
          <a:prstGeom prst="rect">
            <a:avLst/>
          </a:prstGeom>
        </p:spPr>
        <p:txBody>
          <a:bodyPr vert="horz" lIns="119507" tIns="0" rIns="119507" bIns="59755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7675" indent="-180975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120000"/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14375" indent="-26670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Font typeface="Arial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90600" indent="-276225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Font typeface="Arial" pitchFamily="34" charset="0"/>
              <a:buChar char="»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3423" indent="-373423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25000"/>
                  </a:schemeClr>
                </a:solidFill>
              </a:rPr>
              <a:t>Email: </a:t>
            </a:r>
            <a:r>
              <a:rPr lang="en-US" sz="3600" dirty="0">
                <a:solidFill>
                  <a:schemeClr val="bg2">
                    <a:lumMod val="25000"/>
                  </a:schemeClr>
                </a:solidFill>
                <a:hlinkClick r:id="rId3"/>
              </a:rPr>
              <a:t>javiersuarezruiz@hotmail.com</a:t>
            </a:r>
            <a:endParaRPr lang="en-US" sz="3600" dirty="0">
              <a:solidFill>
                <a:schemeClr val="bg2">
                  <a:lumMod val="25000"/>
                </a:schemeClr>
              </a:solidFill>
            </a:endParaRPr>
          </a:p>
          <a:p>
            <a:pPr marL="373423" indent="-373423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25000"/>
                  </a:schemeClr>
                </a:solidFill>
              </a:rPr>
              <a:t>Twitter: @</a:t>
            </a:r>
            <a:r>
              <a:rPr lang="en-US" sz="3600" dirty="0" err="1">
                <a:solidFill>
                  <a:schemeClr val="bg2">
                    <a:lumMod val="25000"/>
                  </a:schemeClr>
                </a:solidFill>
              </a:rPr>
              <a:t>jsuarezruiz</a:t>
            </a:r>
            <a:endParaRPr lang="en-US" sz="3600" dirty="0">
              <a:solidFill>
                <a:schemeClr val="bg2">
                  <a:lumMod val="25000"/>
                </a:schemeClr>
              </a:solidFill>
            </a:endParaRPr>
          </a:p>
          <a:p>
            <a:endParaRPr lang="en-US" sz="196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23870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solidFill>
                  <a:schemeClr val="accent2"/>
                </a:solidFill>
              </a:rPr>
              <a:t>The</a:t>
            </a:r>
            <a:r>
              <a:rPr lang="es-ES" dirty="0">
                <a:solidFill>
                  <a:schemeClr val="accent2"/>
                </a:solidFill>
              </a:rPr>
              <a:t>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69240" y="1403351"/>
            <a:ext cx="11647496" cy="526214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Why? </a:t>
            </a:r>
            <a:r>
              <a:rPr lang="en-US" sz="2800" dirty="0"/>
              <a:t>– The Need for MCP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 err="1"/>
              <a:t>What</a:t>
            </a:r>
            <a:r>
              <a:rPr lang="es-ES" sz="2800" b="1" dirty="0"/>
              <a:t>? </a:t>
            </a:r>
            <a:r>
              <a:rPr lang="es-ES" sz="2800" dirty="0"/>
              <a:t>– </a:t>
            </a:r>
            <a:r>
              <a:rPr lang="es-ES" sz="2800" dirty="0" err="1"/>
              <a:t>Understanding</a:t>
            </a:r>
            <a:r>
              <a:rPr lang="es-ES" sz="2800" dirty="0"/>
              <a:t> MCP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 err="1"/>
              <a:t>How</a:t>
            </a:r>
            <a:r>
              <a:rPr lang="es-ES" sz="2800" b="1" dirty="0"/>
              <a:t>? </a:t>
            </a:r>
            <a:r>
              <a:rPr lang="es-ES" sz="2800" dirty="0" err="1"/>
              <a:t>Using</a:t>
            </a:r>
            <a:r>
              <a:rPr lang="es-ES" sz="2800" dirty="0"/>
              <a:t> MCP</a:t>
            </a:r>
          </a:p>
        </p:txBody>
      </p:sp>
    </p:spTree>
    <p:extLst>
      <p:ext uri="{BB962C8B-B14F-4D97-AF65-F5344CB8AC3E}">
        <p14:creationId xmlns:p14="http://schemas.microsoft.com/office/powerpoint/2010/main" val="220144521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D33889-A7A4-8808-2064-B62992ECE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50DD-B8F2-FDBC-BB0F-B2A1293E6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403" y="2413472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zh-CN" sz="6000" dirty="0">
                <a:solidFill>
                  <a:srgbClr val="FFFFFF"/>
                </a:solidFill>
              </a:rPr>
              <a:t>Why?</a:t>
            </a:r>
            <a:br>
              <a:rPr lang="en-US" altLang="zh-CN" sz="6000" dirty="0">
                <a:solidFill>
                  <a:srgbClr val="FFFFFF"/>
                </a:solidFill>
              </a:rPr>
            </a:br>
            <a:r>
              <a:rPr lang="en-US" altLang="zh-CN" sz="6000" dirty="0">
                <a:solidFill>
                  <a:srgbClr val="FFFFFF"/>
                </a:solidFill>
              </a:rPr>
              <a:t>The Need for MCP</a:t>
            </a:r>
          </a:p>
        </p:txBody>
      </p:sp>
    </p:spTree>
    <p:extLst>
      <p:ext uri="{BB962C8B-B14F-4D97-AF65-F5344CB8AC3E}">
        <p14:creationId xmlns:p14="http://schemas.microsoft.com/office/powerpoint/2010/main" val="280272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BA4F-ABAB-F043-4D3A-BFAB8B8EE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64" y="0"/>
            <a:ext cx="11032671" cy="1093447"/>
          </a:xfrm>
        </p:spPr>
        <p:txBody>
          <a:bodyPr>
            <a:noAutofit/>
          </a:bodyPr>
          <a:lstStyle/>
          <a:p>
            <a:r>
              <a:rPr lang="en-US" altLang="zh-CN" sz="4000" dirty="0"/>
              <a:t>T</a:t>
            </a:r>
            <a:r>
              <a:rPr lang="en-US" sz="4000" dirty="0"/>
              <a:t>ypical AI Application </a:t>
            </a:r>
            <a:r>
              <a:rPr lang="en-US" altLang="zh-CN" sz="4000" dirty="0"/>
              <a:t>with Single-Agent Architecture</a:t>
            </a:r>
            <a:endParaRPr lang="en-US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EE7D73-DC71-1EC2-C5F6-0F326056E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155739"/>
            <a:ext cx="10475137" cy="521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350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33E4-4983-AA95-D3D6-42FD3A8E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with Current AI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C4638-0D01-6AC3-E723-3117E89AD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1" y="1189178"/>
            <a:ext cx="11653521" cy="4395049"/>
          </a:xfrm>
        </p:spPr>
        <p:txBody>
          <a:bodyPr/>
          <a:lstStyle/>
          <a:p>
            <a:r>
              <a:rPr lang="en-US" sz="3600" dirty="0"/>
              <a:t>GitHub offers features for handling code, issues, pull requests, and more. </a:t>
            </a:r>
          </a:p>
          <a:p>
            <a:r>
              <a:rPr lang="en-US" sz="3600" dirty="0"/>
              <a:t>Their goal is to extend these capabilities by integrating with various AI-powered IDEs, such as VS Code, Cursor, Windsurf, Zed, Cline, and others. </a:t>
            </a:r>
          </a:p>
          <a:p>
            <a:r>
              <a:rPr lang="en-US" sz="3600" dirty="0"/>
              <a:t>To achieve this, they must develop dedicated GitHub integration tools tailored to each individual IDE, implementing them step by step for compatibility.</a:t>
            </a:r>
          </a:p>
        </p:txBody>
      </p:sp>
    </p:spTree>
    <p:extLst>
      <p:ext uri="{BB962C8B-B14F-4D97-AF65-F5344CB8AC3E}">
        <p14:creationId xmlns:p14="http://schemas.microsoft.com/office/powerpoint/2010/main" val="1849689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4CDC1-74C0-3B57-F2CD-0174FB44B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25137-0C8E-B714-2D7A-3D66CC2C0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Pain </a:t>
            </a:r>
            <a:r>
              <a:rPr lang="en-US" sz="4000" dirty="0"/>
              <a:t>Points</a:t>
            </a:r>
            <a:r>
              <a:rPr lang="en-US" dirty="0"/>
              <a:t> for D</a:t>
            </a:r>
            <a:r>
              <a:rPr lang="en-US" altLang="zh-CN" dirty="0"/>
              <a:t>evelopers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0B9E-2653-27B5-E111-D335A2CDA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1" y="1189178"/>
            <a:ext cx="11653521" cy="501060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200" dirty="0"/>
              <a:t>For Tool developers: </a:t>
            </a:r>
          </a:p>
          <a:p>
            <a:r>
              <a:rPr lang="en-US" altLang="zh-CN" sz="3200" dirty="0"/>
              <a:t>If GitHub plans to integrate with the top 100 AI applications, they must create and implement integrations individually for each AI application, addressing its specific requirements and features.  </a:t>
            </a:r>
          </a:p>
          <a:p>
            <a:pPr marL="0" indent="0">
              <a:buNone/>
            </a:pPr>
            <a:r>
              <a:rPr lang="en-US" altLang="zh-CN" sz="3200" dirty="0"/>
              <a:t>For AI application developers: </a:t>
            </a:r>
          </a:p>
          <a:p>
            <a:r>
              <a:rPr lang="en-US" altLang="zh-CN" sz="3200" dirty="0"/>
              <a:t>If Rider seeks to integrate with GitHub's VS Code GitHub Copilot tool, they wouldn't be able to reuse it directly. Instead, they'd have to develop a new integration tailored to their platform from scratch.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3259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35394-FC10-D18B-9C0E-5415FD331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72CA0-162F-F57D-F93D-CD6795870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The Demand for Standardization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83CD9-33B0-7C39-F58B-C9380A770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1" y="1189178"/>
            <a:ext cx="11653521" cy="190205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N</a:t>
            </a:r>
            <a:r>
              <a:rPr lang="en-US" sz="3600" dirty="0"/>
              <a:t>eed for a universal protocol to streamline AI integrations:</a:t>
            </a:r>
          </a:p>
          <a:p>
            <a:r>
              <a:rPr lang="en-US" sz="3600" dirty="0"/>
              <a:t>Reduce fragmentation</a:t>
            </a:r>
          </a:p>
          <a:p>
            <a:r>
              <a:rPr lang="en-US" sz="3600" dirty="0"/>
              <a:t>Promote interoperability</a:t>
            </a:r>
          </a:p>
        </p:txBody>
      </p:sp>
    </p:spTree>
    <p:extLst>
      <p:ext uri="{BB962C8B-B14F-4D97-AF65-F5344CB8AC3E}">
        <p14:creationId xmlns:p14="http://schemas.microsoft.com/office/powerpoint/2010/main" val="969846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84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14F5A3-1607-4524-8697-80465CEE9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BA05-AC69-83E9-BD64-048CA3599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403" y="2413472"/>
            <a:ext cx="6105194" cy="203105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altLang="zh-CN" sz="6000" dirty="0">
                <a:solidFill>
                  <a:srgbClr val="FFFFFF"/>
                </a:solidFill>
              </a:rPr>
              <a:t>What?</a:t>
            </a:r>
            <a:br>
              <a:rPr lang="en-US" altLang="zh-CN" sz="6000" dirty="0">
                <a:solidFill>
                  <a:srgbClr val="FFFFFF"/>
                </a:solidFill>
              </a:rPr>
            </a:br>
            <a:r>
              <a:rPr lang="en-US" altLang="zh-CN" sz="6000" dirty="0">
                <a:solidFill>
                  <a:srgbClr val="FFFFFF"/>
                </a:solidFill>
              </a:rPr>
              <a:t>Understanding MCP</a:t>
            </a:r>
          </a:p>
        </p:txBody>
      </p:sp>
    </p:spTree>
    <p:extLst>
      <p:ext uri="{BB962C8B-B14F-4D97-AF65-F5344CB8AC3E}">
        <p14:creationId xmlns:p14="http://schemas.microsoft.com/office/powerpoint/2010/main" val="3641069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10"/>
          <p:cNvSpPr txBox="1"/>
          <p:nvPr/>
        </p:nvSpPr>
        <p:spPr>
          <a:xfrm>
            <a:off x="738400" y="1647776"/>
            <a:ext cx="10715200" cy="89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33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MCP is an open protocol that enables seamless integration between </a:t>
            </a:r>
            <a:r>
              <a:rPr kumimoji="0" lang="en-US" sz="2533" b="1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LLM applications</a:t>
            </a:r>
            <a:r>
              <a:rPr kumimoji="0" lang="en-US" sz="2533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 and your </a:t>
            </a:r>
            <a:r>
              <a:rPr kumimoji="0" lang="en-US" sz="2533" b="1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tools &amp; data sources</a:t>
            </a:r>
            <a:r>
              <a:rPr kumimoji="0" lang="en-US" sz="2533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867" name="Google Shape;867;p110"/>
          <p:cNvSpPr txBox="1">
            <a:spLocks noGrp="1"/>
          </p:cNvSpPr>
          <p:nvPr>
            <p:ph type="title"/>
          </p:nvPr>
        </p:nvSpPr>
        <p:spPr>
          <a:xfrm>
            <a:off x="1338333" y="458167"/>
            <a:ext cx="9670800" cy="6628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algn="ctr"/>
            <a:r>
              <a:rPr lang="en" sz="3467"/>
              <a:t>What is the Model Context Protocol (MCP)?</a:t>
            </a:r>
            <a:endParaRPr sz="3467"/>
          </a:p>
        </p:txBody>
      </p:sp>
      <p:sp>
        <p:nvSpPr>
          <p:cNvPr id="869" name="Google Shape;869;p110"/>
          <p:cNvSpPr/>
          <p:nvPr/>
        </p:nvSpPr>
        <p:spPr>
          <a:xfrm>
            <a:off x="1779310" y="3367999"/>
            <a:ext cx="3476000" cy="2673571"/>
          </a:xfrm>
          <a:prstGeom prst="roundRect">
            <a:avLst>
              <a:gd name="adj" fmla="val 16667"/>
            </a:avLst>
          </a:prstGeom>
          <a:solidFill>
            <a:srgbClr val="F8F3E7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APIs</a:t>
            </a:r>
            <a:endParaRPr kumimoji="0" sz="213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 panose="020B0504020202020204" pitchFamily="34" charset="0"/>
              <a:ea typeface="Poppins"/>
              <a:cs typeface="Poppins"/>
              <a:sym typeface="Poppins"/>
            </a:endParaRPr>
          </a:p>
          <a:p>
            <a:pPr marL="76198" marR="0" lvl="0" indent="0" algn="l" defTabSz="91440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Standardize how </a:t>
            </a:r>
            <a:r>
              <a:rPr kumimoji="0" lang="e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web applications</a:t>
            </a:r>
            <a:r>
              <a:rPr kumimoji="0" lang="e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 interact with the </a:t>
            </a:r>
            <a:r>
              <a:rPr kumimoji="0" lang="e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backend</a:t>
            </a:r>
            <a:r>
              <a:rPr kumimoji="0" lang="e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: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 panose="020B0504020202020204" pitchFamily="34" charset="0"/>
              <a:ea typeface="Poppins"/>
              <a:cs typeface="Poppins"/>
              <a:sym typeface="Poppins"/>
            </a:endParaRPr>
          </a:p>
          <a:p>
            <a:pPr marL="7619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 panose="020B0504020202020204" pitchFamily="34" charset="0"/>
              <a:ea typeface="Poppins"/>
              <a:cs typeface="Poppins"/>
              <a:sym typeface="Poppins"/>
            </a:endParaRPr>
          </a:p>
          <a:p>
            <a:pPr marL="533387" marR="0" lvl="0" indent="-3301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 typeface="Poppins"/>
              <a:buChar char="●"/>
              <a:tabLst/>
              <a:defRPr/>
            </a:pPr>
            <a:r>
              <a:rPr kumimoji="0" lang="e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Servers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 panose="020B0504020202020204" pitchFamily="34" charset="0"/>
              <a:ea typeface="Poppins"/>
              <a:cs typeface="Poppins"/>
              <a:sym typeface="Poppins"/>
            </a:endParaRPr>
          </a:p>
          <a:p>
            <a:pPr marL="533387" marR="0" lvl="0" indent="-3301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 typeface="Poppins"/>
              <a:buChar char="●"/>
              <a:tabLst/>
              <a:defRPr/>
            </a:pPr>
            <a:r>
              <a:rPr kumimoji="0" lang="e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Databases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 panose="020B0504020202020204" pitchFamily="34" charset="0"/>
              <a:ea typeface="Poppins"/>
              <a:cs typeface="Poppins"/>
              <a:sym typeface="Poppins"/>
            </a:endParaRPr>
          </a:p>
          <a:p>
            <a:pPr marL="533387" marR="0" lvl="0" indent="-3301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 typeface="Poppins"/>
              <a:buChar char="●"/>
              <a:tabLst/>
              <a:defRPr/>
            </a:pPr>
            <a:r>
              <a:rPr kumimoji="0" lang="e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Services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 panose="020B0504020202020204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870" name="Google Shape;870;p110"/>
          <p:cNvSpPr/>
          <p:nvPr/>
        </p:nvSpPr>
        <p:spPr>
          <a:xfrm>
            <a:off x="6936690" y="3367999"/>
            <a:ext cx="3476000" cy="2673569"/>
          </a:xfrm>
          <a:prstGeom prst="roundRect">
            <a:avLst>
              <a:gd name="adj" fmla="val 16667"/>
            </a:avLst>
          </a:prstGeom>
          <a:solidFill>
            <a:srgbClr val="DEC3A0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MCP</a:t>
            </a:r>
            <a:endParaRPr kumimoji="0" sz="2133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 panose="020B0504020202020204" pitchFamily="34" charset="0"/>
              <a:ea typeface="Poppins"/>
              <a:cs typeface="Poppins"/>
              <a:sym typeface="Poppins"/>
            </a:endParaRPr>
          </a:p>
          <a:p>
            <a:pPr marL="76198" marR="0" lvl="0" indent="0" algn="l" defTabSz="91440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Standardizes how</a:t>
            </a:r>
            <a:r>
              <a:rPr kumimoji="0" lang="e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 AI applications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 interact with </a:t>
            </a:r>
            <a:r>
              <a:rPr kumimoji="0" lang="e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external systems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: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 panose="020B0504020202020204" pitchFamily="34" charset="0"/>
              <a:ea typeface="Poppins"/>
              <a:cs typeface="Poppins"/>
              <a:sym typeface="Poppins"/>
            </a:endParaRPr>
          </a:p>
          <a:p>
            <a:pPr marL="7619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 panose="020B0504020202020204" pitchFamily="34" charset="0"/>
              <a:ea typeface="Poppins"/>
              <a:cs typeface="Poppins"/>
              <a:sym typeface="Poppins"/>
            </a:endParaRPr>
          </a:p>
          <a:p>
            <a:pPr marL="533387" marR="0" lvl="0" indent="-3301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 typeface="Poppins"/>
              <a:buChar char="●"/>
              <a:tabLst/>
              <a:defRPr/>
            </a:pP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Prompts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 panose="020B0504020202020204" pitchFamily="34" charset="0"/>
              <a:ea typeface="Poppins"/>
              <a:cs typeface="Poppins"/>
              <a:sym typeface="Poppins"/>
            </a:endParaRPr>
          </a:p>
          <a:p>
            <a:pPr marL="533387" marR="0" lvl="0" indent="-3301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 typeface="Poppins"/>
              <a:buChar char="●"/>
              <a:tabLst/>
              <a:defRPr/>
            </a:pP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Tools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 panose="020B0504020202020204" pitchFamily="34" charset="0"/>
              <a:ea typeface="Poppins"/>
              <a:cs typeface="Poppins"/>
              <a:sym typeface="Poppins"/>
            </a:endParaRPr>
          </a:p>
          <a:p>
            <a:pPr marL="533387" marR="0" lvl="0" indent="-3301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 typeface="Poppins"/>
              <a:buChar char="●"/>
              <a:tabLst/>
              <a:defRPr/>
            </a:pP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Data &amp; resources</a:t>
            </a:r>
          </a:p>
          <a:p>
            <a:pPr marL="533387" marR="0" lvl="0" indent="-3301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 typeface="Poppins"/>
              <a:buChar char="●"/>
              <a:tabLst/>
              <a:defRPr/>
            </a:pP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 panose="020B0504020202020204" pitchFamily="34" charset="0"/>
                <a:ea typeface="Poppins"/>
                <a:cs typeface="Poppins"/>
                <a:sym typeface="Poppins"/>
              </a:rPr>
              <a:t>Sampling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 panose="020B0504020202020204" pitchFamily="34" charset="0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94ADB-7EF1-8640-D7D5-5FF7155C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705"/>
            <a:ext cx="10515600" cy="1325563"/>
          </a:xfrm>
        </p:spPr>
        <p:txBody>
          <a:bodyPr/>
          <a:lstStyle/>
          <a:p>
            <a:r>
              <a:rPr lang="en-US"/>
              <a:t>Timeline &amp; Trend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34A4A-B8E1-DC7C-2F67-5762A40D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7268"/>
            <a:ext cx="7240035" cy="5226046"/>
          </a:xfrm>
        </p:spPr>
        <p:txBody>
          <a:bodyPr/>
          <a:lstStyle/>
          <a:p>
            <a:r>
              <a:rPr lang="en-US" sz="3600" dirty="0"/>
              <a:t>Nov 2024​ - Anthropic announced MCP, Zed supported MCP</a:t>
            </a:r>
          </a:p>
          <a:p>
            <a:r>
              <a:rPr lang="en-US" sz="3600" dirty="0"/>
              <a:t>Dec 2024 - Cline supported MCP</a:t>
            </a:r>
          </a:p>
          <a:p>
            <a:r>
              <a:rPr lang="en-US" sz="3600" dirty="0"/>
              <a:t>Jan 2025 - Cursor supported MCP</a:t>
            </a:r>
          </a:p>
          <a:p>
            <a:r>
              <a:rPr lang="en-US" sz="3600" dirty="0"/>
              <a:t>Feb 2025 - Windsurf supported MCP</a:t>
            </a:r>
          </a:p>
          <a:p>
            <a:r>
              <a:rPr lang="en-US" sz="3600" dirty="0"/>
              <a:t>March 2025 – VS Code supported MCP</a:t>
            </a:r>
          </a:p>
          <a:p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6F3DA-DA6F-F622-771D-C4F8F21A7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004" y="1557268"/>
            <a:ext cx="3275565" cy="29316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28316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FBCA17-6F3A-6825-170E-36400C20FF51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A70B8-2712-63D8-49E4-77AF8EC57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DA885D-B18F-F235-D095-723A74ACE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62" y="936736"/>
            <a:ext cx="11414756" cy="521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59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8D4F-1FF8-D443-210D-8E52015C1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With MCP: Standardized AI Development​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73DE0-70C0-6A8E-98A6-67AB9D691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>
              <a:lnSpc>
                <a:spcPts val="2700"/>
              </a:lnSpc>
              <a:buNone/>
            </a:pPr>
            <a:r>
              <a:rPr lang="en-US" sz="2800" b="1" i="0" u="none" strike="noStrike">
                <a:solidFill>
                  <a:srgbClr val="141413"/>
                </a:solidFill>
                <a:effectLst/>
              </a:rPr>
              <a:t>For AI </a:t>
            </a:r>
            <a:r>
              <a:rPr lang="en-US" altLang="zh-CN" sz="2800" b="1" i="0" u="none" strike="noStrike">
                <a:solidFill>
                  <a:srgbClr val="141413"/>
                </a:solidFill>
                <a:effectLst/>
              </a:rPr>
              <a:t>A</a:t>
            </a:r>
            <a:r>
              <a:rPr lang="en-US" sz="2800" b="1" i="0" u="none" strike="noStrike">
                <a:solidFill>
                  <a:srgbClr val="141413"/>
                </a:solidFill>
                <a:effectLst/>
              </a:rPr>
              <a:t>pplication developers</a:t>
            </a:r>
            <a:r>
              <a:rPr lang="en-US" sz="2800" b="0" i="0">
                <a:solidFill>
                  <a:srgbClr val="141413"/>
                </a:solidFill>
                <a:effectLst/>
              </a:rPr>
              <a:t>​</a:t>
            </a:r>
            <a:endParaRPr lang="en-US" b="0" i="0">
              <a:solidFill>
                <a:srgbClr val="141413"/>
              </a:solidFill>
              <a:effectLst/>
            </a:endParaRPr>
          </a:p>
          <a:p>
            <a:pPr algn="l" rtl="0" fontAlgn="base">
              <a:lnSpc>
                <a:spcPts val="2700"/>
              </a:lnSpc>
              <a:buNone/>
            </a:pPr>
            <a:r>
              <a:rPr lang="en-US" sz="2800" b="0" i="0" u="none" strike="noStrike">
                <a:solidFill>
                  <a:srgbClr val="141413"/>
                </a:solidFill>
                <a:effectLst/>
              </a:rPr>
              <a:t>Connect your app to any MCP server with 0 additional work </a:t>
            </a:r>
            <a:r>
              <a:rPr lang="en-US" sz="2800" b="0" i="0">
                <a:solidFill>
                  <a:srgbClr val="141413"/>
                </a:solidFill>
                <a:effectLst/>
              </a:rPr>
              <a:t>​</a:t>
            </a:r>
            <a:endParaRPr lang="en-US" b="0" i="0">
              <a:solidFill>
                <a:srgbClr val="141413"/>
              </a:solidFill>
              <a:effectLst/>
            </a:endParaRPr>
          </a:p>
          <a:p>
            <a:pPr algn="l" rtl="0" fontAlgn="base">
              <a:lnSpc>
                <a:spcPts val="2700"/>
              </a:lnSpc>
              <a:buNone/>
            </a:pPr>
            <a:r>
              <a:rPr lang="en-US" sz="2800" b="0" i="0">
                <a:solidFill>
                  <a:srgbClr val="141413"/>
                </a:solidFill>
                <a:effectLst/>
              </a:rPr>
              <a:t>​</a:t>
            </a:r>
            <a:endParaRPr lang="en-US" b="0" i="0">
              <a:solidFill>
                <a:srgbClr val="141413"/>
              </a:solidFill>
              <a:effectLst/>
            </a:endParaRPr>
          </a:p>
          <a:p>
            <a:pPr algn="l" rtl="0" fontAlgn="base">
              <a:lnSpc>
                <a:spcPts val="675"/>
              </a:lnSpc>
              <a:buNone/>
            </a:pPr>
            <a:r>
              <a:rPr lang="en-US" sz="700" b="0" i="0">
                <a:solidFill>
                  <a:srgbClr val="141413"/>
                </a:solidFill>
                <a:effectLst/>
              </a:rPr>
              <a:t>​</a:t>
            </a:r>
            <a:endParaRPr lang="en-US" b="0" i="0">
              <a:solidFill>
                <a:srgbClr val="141413"/>
              </a:solidFill>
              <a:effectLst/>
            </a:endParaRPr>
          </a:p>
          <a:p>
            <a:pPr algn="l" rtl="0" fontAlgn="base">
              <a:lnSpc>
                <a:spcPts val="2700"/>
              </a:lnSpc>
              <a:buNone/>
            </a:pPr>
            <a:r>
              <a:rPr lang="en-US" sz="2800" b="1" i="0" u="none" strike="noStrike">
                <a:solidFill>
                  <a:srgbClr val="141413"/>
                </a:solidFill>
                <a:effectLst/>
              </a:rPr>
              <a:t>For </a:t>
            </a:r>
            <a:r>
              <a:rPr lang="en-US" altLang="zh-CN" sz="2800" b="1" i="0" u="none" strike="noStrike">
                <a:solidFill>
                  <a:srgbClr val="141413"/>
                </a:solidFill>
                <a:effectLst/>
              </a:rPr>
              <a:t>T</a:t>
            </a:r>
            <a:r>
              <a:rPr lang="en-US" sz="2800" b="1" i="0" u="none" strike="noStrike">
                <a:solidFill>
                  <a:srgbClr val="141413"/>
                </a:solidFill>
                <a:effectLst/>
              </a:rPr>
              <a:t>ool or API developers</a:t>
            </a:r>
            <a:r>
              <a:rPr lang="en-US" sz="2800" b="0" i="0">
                <a:solidFill>
                  <a:srgbClr val="141413"/>
                </a:solidFill>
                <a:effectLst/>
              </a:rPr>
              <a:t>​</a:t>
            </a:r>
            <a:endParaRPr lang="en-US" b="0" i="0">
              <a:solidFill>
                <a:srgbClr val="141413"/>
              </a:solidFill>
              <a:effectLst/>
            </a:endParaRPr>
          </a:p>
          <a:p>
            <a:pPr marL="0" indent="0" algn="l" rtl="0" fontAlgn="base">
              <a:lnSpc>
                <a:spcPts val="2700"/>
              </a:lnSpc>
              <a:buNone/>
            </a:pPr>
            <a:r>
              <a:rPr lang="en-US" sz="2800" b="0" i="0" u="none" strike="noStrike">
                <a:solidFill>
                  <a:srgbClr val="141413"/>
                </a:solidFill>
                <a:effectLst/>
              </a:rPr>
              <a:t>Build an MCP server once, see adoption everywhere</a:t>
            </a:r>
            <a:r>
              <a:rPr lang="en-US" sz="2800" b="0" i="0">
                <a:solidFill>
                  <a:srgbClr val="141413"/>
                </a:solidFill>
                <a:effectLst/>
              </a:rPr>
              <a:t>​</a:t>
            </a:r>
            <a:endParaRPr lang="en-US" b="0" i="0">
              <a:solidFill>
                <a:srgbClr val="141413"/>
              </a:solidFill>
              <a:effectLst/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16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C457-68C1-7EDA-89B3-82BF7497E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076"/>
            <a:ext cx="10515600" cy="1022239"/>
          </a:xfrm>
        </p:spPr>
        <p:txBody>
          <a:bodyPr/>
          <a:lstStyle/>
          <a:p>
            <a:r>
              <a:rPr lang="en-US"/>
              <a:t>General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FE16DF-3118-EF06-E4BC-C58736613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14" y="862885"/>
            <a:ext cx="8924899" cy="607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39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DD75-5581-F80B-2E38-368FB8FBF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34" y="0"/>
            <a:ext cx="10515600" cy="778329"/>
          </a:xfrm>
        </p:spPr>
        <p:txBody>
          <a:bodyPr/>
          <a:lstStyle/>
          <a:p>
            <a:r>
              <a:rPr lang="en-US"/>
              <a:t>Core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98B00-C7F4-5BE6-38F4-F27B2F164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2429" y="1012372"/>
            <a:ext cx="5056414" cy="5404077"/>
          </a:xfrm>
        </p:spPr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3E3E3E"/>
                </a:solidFill>
                <a:effectLst/>
                <a:latin typeface="__Inter_e5ab12"/>
              </a:rPr>
              <a:t>MCP Hosts</a:t>
            </a:r>
            <a:r>
              <a:rPr lang="en-US" b="0" i="0">
                <a:solidFill>
                  <a:srgbClr val="3E3E3E"/>
                </a:solidFill>
                <a:effectLst/>
                <a:latin typeface="__Inter_e5ab12"/>
              </a:rPr>
              <a:t>: Programs like Claude Desktop, IDEs, or AI tools that want to access data through MCP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3E3E3E"/>
                </a:solidFill>
                <a:effectLst/>
                <a:latin typeface="__Inter_e5ab12"/>
              </a:rPr>
              <a:t>MCP Clients</a:t>
            </a:r>
            <a:r>
              <a:rPr lang="en-US" b="0" i="0">
                <a:solidFill>
                  <a:srgbClr val="3E3E3E"/>
                </a:solidFill>
                <a:effectLst/>
                <a:latin typeface="__Inter_e5ab12"/>
              </a:rPr>
              <a:t>: Protocol clients that maintain 1:1 connections with servers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3E3E3E"/>
                </a:solidFill>
                <a:effectLst/>
                <a:latin typeface="__Inter_e5ab12"/>
              </a:rPr>
              <a:t>MCP Servers</a:t>
            </a:r>
            <a:r>
              <a:rPr lang="en-US" b="0" i="0">
                <a:solidFill>
                  <a:srgbClr val="3E3E3E"/>
                </a:solidFill>
                <a:effectLst/>
                <a:latin typeface="__Inter_e5ab12"/>
              </a:rPr>
              <a:t>: Lightweight programs that each expose specific capabilities through the standardized Model Context Protocol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62AC7-9885-FAFC-39E4-064BE8BE1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06" y="849189"/>
            <a:ext cx="6572456" cy="593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53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5996F-F3BF-9A77-767F-42759F4AF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Transports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CB39-35A0-913B-8176-F73381C7A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1" y="1189178"/>
            <a:ext cx="11653521" cy="3010055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Two standard transport mechanisms for client-server communication:</a:t>
            </a:r>
          </a:p>
          <a:p>
            <a:r>
              <a:rPr lang="en-US" sz="3600" dirty="0" err="1"/>
              <a:t>stdio</a:t>
            </a:r>
            <a:r>
              <a:rPr lang="en-US" sz="3600" dirty="0"/>
              <a:t>, communication over standard in and standard out</a:t>
            </a:r>
          </a:p>
          <a:p>
            <a:r>
              <a:rPr lang="en-US" sz="3600" dirty="0"/>
              <a:t>HTTP with Server-Sent Events (SSE)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15085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7121-F981-67D5-9CFF-674AA2E2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stdio</a:t>
            </a:r>
            <a:r>
              <a:rPr lang="en-US" sz="40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C076B-83C3-544D-1F25-73B92D44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02" y="1311497"/>
            <a:ext cx="4723502" cy="4235006"/>
          </a:xfrm>
        </p:spPr>
        <p:txBody>
          <a:bodyPr/>
          <a:lstStyle/>
          <a:p>
            <a:r>
              <a:rPr lang="en-US" sz="2800" dirty="0"/>
              <a:t>Server could only run in </a:t>
            </a:r>
            <a:r>
              <a:rPr lang="en-US" sz="2800" b="1" dirty="0"/>
              <a:t>local</a:t>
            </a:r>
            <a:r>
              <a:rPr lang="en-US" sz="2800" dirty="0"/>
              <a:t>.</a:t>
            </a:r>
          </a:p>
          <a:p>
            <a:r>
              <a:rPr lang="en-US" sz="2800" dirty="0"/>
              <a:t>The client launches the MCP server as a subprocess.</a:t>
            </a:r>
          </a:p>
          <a:p>
            <a:r>
              <a:rPr lang="en-US" sz="2800" dirty="0"/>
              <a:t>The server receives JSON-RPC messages on its standard input (stdin) and writes responses to its standard output (</a:t>
            </a:r>
            <a:r>
              <a:rPr lang="en-US" sz="2800" dirty="0" err="1"/>
              <a:t>stdout</a:t>
            </a:r>
            <a:r>
              <a:rPr lang="en-US" sz="2800" dirty="0"/>
              <a:t>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2F23E-33B2-79B4-3E07-61241F0FE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066" y="0"/>
            <a:ext cx="6995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71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DDA9-6A33-34D8-9024-CD5A382BA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HTTP with SSE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40B2E-A065-5AA2-5A04-A0FD566EB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825625"/>
            <a:ext cx="6055639" cy="4351338"/>
          </a:xfrm>
        </p:spPr>
        <p:txBody>
          <a:bodyPr>
            <a:normAutofit/>
          </a:bodyPr>
          <a:lstStyle/>
          <a:p>
            <a:r>
              <a:rPr lang="en-US"/>
              <a:t>Server could run in both </a:t>
            </a:r>
            <a:r>
              <a:rPr lang="en-US" b="1"/>
              <a:t>local and remote</a:t>
            </a:r>
            <a:r>
              <a:rPr lang="en-US"/>
              <a:t>.</a:t>
            </a:r>
          </a:p>
          <a:p>
            <a:r>
              <a:rPr lang="en-US" b="0" i="0">
                <a:solidFill>
                  <a:srgbClr val="000000"/>
                </a:solidFill>
                <a:effectLst/>
                <a:latin typeface="ui-sans-serif"/>
              </a:rPr>
              <a:t>The server </a:t>
            </a:r>
            <a:r>
              <a:rPr lang="en-US" b="1" i="0">
                <a:solidFill>
                  <a:srgbClr val="000000"/>
                </a:solidFill>
                <a:effectLst/>
                <a:latin typeface="ui-sans-serif"/>
              </a:rPr>
              <a:t>MUST</a:t>
            </a:r>
            <a:r>
              <a:rPr lang="en-US" b="0" i="0">
                <a:solidFill>
                  <a:srgbClr val="000000"/>
                </a:solidFill>
                <a:effectLst/>
                <a:latin typeface="ui-sans-serif"/>
              </a:rPr>
              <a:t> provide two endpoints: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0" i="0">
                <a:solidFill>
                  <a:srgbClr val="000000"/>
                </a:solidFill>
                <a:effectLst/>
                <a:latin typeface="ui-sans-serif"/>
              </a:rPr>
              <a:t>An SSE endpoint, for clients to establish a connection and receive messages from the server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0" i="0">
                <a:solidFill>
                  <a:srgbClr val="000000"/>
                </a:solidFill>
                <a:effectLst/>
                <a:latin typeface="ui-sans-serif"/>
              </a:rPr>
              <a:t>A regular HTTP POST endpoint for clients to send messages to the server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DFDC33-CEC4-CBDC-0772-B3792F5EF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141" y="0"/>
            <a:ext cx="54462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62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15"/>
          <p:cNvSpPr/>
          <p:nvPr/>
        </p:nvSpPr>
        <p:spPr>
          <a:xfrm>
            <a:off x="557933" y="5699967"/>
            <a:ext cx="936400" cy="48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49" name="Google Shape;949;p115"/>
          <p:cNvSpPr/>
          <p:nvPr/>
        </p:nvSpPr>
        <p:spPr>
          <a:xfrm>
            <a:off x="7303133" y="1126967"/>
            <a:ext cx="3706000" cy="1723600"/>
          </a:xfrm>
          <a:prstGeom prst="roundRect">
            <a:avLst>
              <a:gd name="adj" fmla="val 16667"/>
            </a:avLst>
          </a:prstGeom>
          <a:solidFill>
            <a:srgbClr val="F8F3E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267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MCP Server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  <a:sym typeface="Poppins"/>
            </a:endParaRPr>
          </a:p>
          <a:p>
            <a:pPr marL="76198" marR="0" lvl="0" indent="0" algn="l" defTabSz="91440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Exposes </a:t>
            </a:r>
            <a:r>
              <a:rPr kumimoji="0" lang="en" sz="17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Resources</a:t>
            </a:r>
            <a:endParaRPr kumimoji="0" sz="173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  <a:sym typeface="Poppins"/>
            </a:endParaRPr>
          </a:p>
          <a:p>
            <a:pPr marL="7619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Exposes </a:t>
            </a:r>
            <a:r>
              <a:rPr kumimoji="0" lang="en" sz="17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Tools</a:t>
            </a:r>
            <a:endParaRPr kumimoji="0" sz="173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  <a:sym typeface="Poppins"/>
            </a:endParaRPr>
          </a:p>
          <a:p>
            <a:pPr marL="7619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Exposes </a:t>
            </a:r>
            <a:r>
              <a:rPr kumimoji="0" lang="en" sz="17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Prompt Templates</a:t>
            </a:r>
            <a:endParaRPr kumimoji="0" sz="17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  <a:sym typeface="Poppins"/>
            </a:endParaRPr>
          </a:p>
        </p:txBody>
      </p:sp>
      <p:sp>
        <p:nvSpPr>
          <p:cNvPr id="950" name="Google Shape;950;p115"/>
          <p:cNvSpPr txBox="1">
            <a:spLocks noGrp="1"/>
          </p:cNvSpPr>
          <p:nvPr>
            <p:ph type="sldNum" idx="12"/>
          </p:nvPr>
        </p:nvSpPr>
        <p:spPr>
          <a:xfrm>
            <a:off x="11008967" y="6278569"/>
            <a:ext cx="582800" cy="143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Tx/>
              <a:buNone/>
              <a:tabLst/>
              <a:defRPr/>
            </a:pPr>
            <a:fld id="{00000000-1234-1234-1234-123412341234}" type="slidenum"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0F9ED5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8"/>
                <a:buFontTx/>
                <a:buNone/>
                <a:tabLst/>
                <a:defRPr/>
              </a:pPr>
              <a:t>19</a:t>
            </a:fld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F9ED5"/>
              </a:solidFill>
              <a:effectLst/>
              <a:uLnTx/>
              <a:uFillTx/>
              <a:latin typeface="Poppins"/>
              <a:cs typeface="Poppins"/>
              <a:sym typeface="Poppins"/>
            </a:endParaRPr>
          </a:p>
        </p:txBody>
      </p:sp>
      <p:sp>
        <p:nvSpPr>
          <p:cNvPr id="951" name="Google Shape;951;p115"/>
          <p:cNvSpPr/>
          <p:nvPr/>
        </p:nvSpPr>
        <p:spPr>
          <a:xfrm>
            <a:off x="1386033" y="1126967"/>
            <a:ext cx="3706000" cy="1723600"/>
          </a:xfrm>
          <a:prstGeom prst="roundRect">
            <a:avLst>
              <a:gd name="adj" fmla="val 16667"/>
            </a:avLst>
          </a:prstGeom>
          <a:solidFill>
            <a:srgbClr val="F8F3E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267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MCP Client</a:t>
            </a:r>
            <a:endParaRPr kumimoji="0" sz="2267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  <a:sym typeface="Poppins"/>
            </a:endParaRPr>
          </a:p>
          <a:p>
            <a:pPr marL="76198" marR="0" lvl="0" indent="0" algn="l" defTabSz="91440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Queries for </a:t>
            </a:r>
            <a:r>
              <a:rPr kumimoji="0" lang="en" sz="17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Resources</a:t>
            </a:r>
            <a:endParaRPr kumimoji="0" sz="173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  <a:sym typeface="Poppins"/>
            </a:endParaRPr>
          </a:p>
          <a:p>
            <a:pPr marL="7619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Invokes </a:t>
            </a:r>
            <a:r>
              <a:rPr kumimoji="0" lang="en" sz="17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Tools</a:t>
            </a:r>
            <a:endParaRPr kumimoji="0" sz="1733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  <a:sym typeface="Poppins"/>
            </a:endParaRPr>
          </a:p>
          <a:p>
            <a:pPr marL="7619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Interpolates </a:t>
            </a:r>
            <a:r>
              <a:rPr kumimoji="0" lang="en" sz="17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Prompts</a:t>
            </a:r>
            <a:endParaRPr kumimoji="0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  <a:sym typeface="Poppins"/>
            </a:endParaRPr>
          </a:p>
        </p:txBody>
      </p:sp>
      <p:sp>
        <p:nvSpPr>
          <p:cNvPr id="952" name="Google Shape;952;p115"/>
          <p:cNvSpPr txBox="1">
            <a:spLocks noGrp="1"/>
          </p:cNvSpPr>
          <p:nvPr>
            <p:ph type="title"/>
          </p:nvPr>
        </p:nvSpPr>
        <p:spPr>
          <a:xfrm>
            <a:off x="2486200" y="84970"/>
            <a:ext cx="7219600" cy="759844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algn="ctr"/>
            <a:r>
              <a:rPr lang="en-US" sz="4000" dirty="0"/>
              <a:t>Server Features</a:t>
            </a:r>
            <a:endParaRPr sz="4000" dirty="0"/>
          </a:p>
        </p:txBody>
      </p:sp>
      <p:cxnSp>
        <p:nvCxnSpPr>
          <p:cNvPr id="953" name="Google Shape;953;p115"/>
          <p:cNvCxnSpPr>
            <a:stCxn id="951" idx="3"/>
            <a:endCxn id="949" idx="1"/>
          </p:cNvCxnSpPr>
          <p:nvPr/>
        </p:nvCxnSpPr>
        <p:spPr>
          <a:xfrm>
            <a:off x="5092033" y="1988767"/>
            <a:ext cx="2211200" cy="800"/>
          </a:xfrm>
          <a:prstGeom prst="curvedConnector3">
            <a:avLst>
              <a:gd name="adj1" fmla="val 4999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954" name="Google Shape;954;p115"/>
          <p:cNvSpPr/>
          <p:nvPr/>
        </p:nvSpPr>
        <p:spPr>
          <a:xfrm>
            <a:off x="1465800" y="3452433"/>
            <a:ext cx="9463600" cy="2637600"/>
          </a:xfrm>
          <a:prstGeom prst="roundRect">
            <a:avLst>
              <a:gd name="adj" fmla="val 3023"/>
            </a:avLst>
          </a:prstGeom>
          <a:solidFill>
            <a:srgbClr val="F0EFE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55" name="Google Shape;955;p115"/>
          <p:cNvSpPr txBox="1"/>
          <p:nvPr/>
        </p:nvSpPr>
        <p:spPr>
          <a:xfrm>
            <a:off x="1324316" y="3602271"/>
            <a:ext cx="33044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None/>
              <a:tabLst/>
              <a:defRPr/>
            </a:pPr>
            <a:r>
              <a:rPr kumimoji="0" lang="en" sz="2400" b="0" i="0" u="none" strike="noStrike" kern="1200" cap="none" spc="0" normalizeH="0" baseline="0" noProof="0">
                <a:ln>
                  <a:noFill/>
                </a:ln>
                <a:solidFill>
                  <a:srgbClr val="780E0D"/>
                </a:solidFill>
                <a:effectLst/>
                <a:uLnTx/>
                <a:uFillTx/>
                <a:latin typeface="Outfit SemiBold"/>
                <a:ea typeface="Outfit SemiBold"/>
                <a:cs typeface="Outfit SemiBold"/>
                <a:sym typeface="Outfit SemiBold"/>
              </a:rPr>
              <a:t>Tools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780E0D"/>
              </a:solidFill>
              <a:effectLst/>
              <a:uLnTx/>
              <a:uFillTx/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956" name="Google Shape;956;p115"/>
          <p:cNvSpPr txBox="1"/>
          <p:nvPr/>
        </p:nvSpPr>
        <p:spPr>
          <a:xfrm>
            <a:off x="1812709" y="4129400"/>
            <a:ext cx="2506000" cy="6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utfit"/>
                <a:ea typeface="Outfit"/>
                <a:cs typeface="Outfit"/>
                <a:sym typeface="Outfit"/>
              </a:rPr>
              <a:t>Functions and tools that can be invoked by the client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57" name="Google Shape;957;p115"/>
          <p:cNvSpPr txBox="1"/>
          <p:nvPr/>
        </p:nvSpPr>
        <p:spPr>
          <a:xfrm>
            <a:off x="7969267" y="3602271"/>
            <a:ext cx="28412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None/>
              <a:tabLst/>
              <a:defRPr/>
            </a:pPr>
            <a:r>
              <a:rPr kumimoji="0" lang="en" sz="2400" b="0" i="0" u="none" strike="noStrike" kern="1200" cap="none" spc="0" normalizeH="0" baseline="0" noProof="0">
                <a:ln>
                  <a:noFill/>
                </a:ln>
                <a:solidFill>
                  <a:srgbClr val="780E0D"/>
                </a:solidFill>
                <a:effectLst/>
                <a:uLnTx/>
                <a:uFillTx/>
                <a:latin typeface="Outfit SemiBold"/>
                <a:ea typeface="Outfit SemiBold"/>
                <a:cs typeface="Outfit SemiBold"/>
                <a:sym typeface="Outfit SemiBold"/>
              </a:rPr>
              <a:t>Prompt Templates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780E0D"/>
              </a:solidFill>
              <a:effectLst/>
              <a:uLnTx/>
              <a:uFillTx/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958" name="Google Shape;958;p115"/>
          <p:cNvSpPr txBox="1"/>
          <p:nvPr/>
        </p:nvSpPr>
        <p:spPr>
          <a:xfrm>
            <a:off x="8199633" y="4164531"/>
            <a:ext cx="25060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utfit"/>
                <a:ea typeface="Outfit"/>
                <a:cs typeface="Outfit"/>
                <a:sym typeface="Outfit"/>
              </a:rPr>
              <a:t>User-invoked prompts to interact with the model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9" name="Google Shape;959;p115"/>
          <p:cNvCxnSpPr/>
          <p:nvPr/>
        </p:nvCxnSpPr>
        <p:spPr>
          <a:xfrm>
            <a:off x="1643600" y="3176665"/>
            <a:ext cx="9108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0" name="Google Shape;960;p115"/>
          <p:cNvSpPr/>
          <p:nvPr/>
        </p:nvSpPr>
        <p:spPr>
          <a:xfrm>
            <a:off x="1958877" y="4828900"/>
            <a:ext cx="2211200" cy="268800"/>
          </a:xfrm>
          <a:prstGeom prst="roundRect">
            <a:avLst>
              <a:gd name="adj" fmla="val 16667"/>
            </a:avLst>
          </a:prstGeom>
          <a:solidFill>
            <a:srgbClr val="EADBB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33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utfit"/>
                <a:ea typeface="Outfit"/>
                <a:cs typeface="Outfit"/>
                <a:sym typeface="Outfit"/>
              </a:rPr>
              <a:t>Retrieve / search</a:t>
            </a:r>
            <a:endParaRPr kumimoji="0" sz="1333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61" name="Google Shape;961;p115"/>
          <p:cNvSpPr/>
          <p:nvPr/>
        </p:nvSpPr>
        <p:spPr>
          <a:xfrm>
            <a:off x="1958877" y="5171155"/>
            <a:ext cx="2211200" cy="268800"/>
          </a:xfrm>
          <a:prstGeom prst="roundRect">
            <a:avLst>
              <a:gd name="adj" fmla="val 16667"/>
            </a:avLst>
          </a:prstGeom>
          <a:solidFill>
            <a:srgbClr val="EADBB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33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utfit"/>
                <a:ea typeface="Outfit"/>
                <a:cs typeface="Outfit"/>
                <a:sym typeface="Outfit"/>
              </a:rPr>
              <a:t>Send a message</a:t>
            </a:r>
            <a:endParaRPr kumimoji="0" sz="1333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62" name="Google Shape;962;p115"/>
          <p:cNvSpPr/>
          <p:nvPr/>
        </p:nvSpPr>
        <p:spPr>
          <a:xfrm>
            <a:off x="1958877" y="5514436"/>
            <a:ext cx="2211200" cy="268800"/>
          </a:xfrm>
          <a:prstGeom prst="roundRect">
            <a:avLst>
              <a:gd name="adj" fmla="val 16667"/>
            </a:avLst>
          </a:prstGeom>
          <a:solidFill>
            <a:srgbClr val="EADBB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33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utfit"/>
                <a:ea typeface="Outfit"/>
                <a:cs typeface="Outfit"/>
                <a:sym typeface="Outfit"/>
              </a:rPr>
              <a:t>Update DB records</a:t>
            </a:r>
            <a:endParaRPr kumimoji="0" sz="1467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63" name="Google Shape;963;p115"/>
          <p:cNvSpPr/>
          <p:nvPr/>
        </p:nvSpPr>
        <p:spPr>
          <a:xfrm>
            <a:off x="8473467" y="4853536"/>
            <a:ext cx="1792800" cy="268800"/>
          </a:xfrm>
          <a:prstGeom prst="roundRect">
            <a:avLst>
              <a:gd name="adj" fmla="val 16667"/>
            </a:avLst>
          </a:prstGeom>
          <a:solidFill>
            <a:srgbClr val="EADBB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33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utfit"/>
                <a:ea typeface="Outfit"/>
                <a:cs typeface="Outfit"/>
                <a:sym typeface="Outfit"/>
              </a:rPr>
              <a:t>Document Q&amp;A</a:t>
            </a:r>
            <a:endParaRPr kumimoji="0" sz="1333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64" name="Google Shape;964;p115"/>
          <p:cNvSpPr/>
          <p:nvPr/>
        </p:nvSpPr>
        <p:spPr>
          <a:xfrm>
            <a:off x="8473467" y="5195795"/>
            <a:ext cx="1792800" cy="268800"/>
          </a:xfrm>
          <a:prstGeom prst="roundRect">
            <a:avLst>
              <a:gd name="adj" fmla="val 16667"/>
            </a:avLst>
          </a:prstGeom>
          <a:solidFill>
            <a:srgbClr val="EADBB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33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utfit"/>
                <a:ea typeface="Outfit"/>
                <a:cs typeface="Outfit"/>
                <a:sym typeface="Outfit"/>
              </a:rPr>
              <a:t>Transcript Summary</a:t>
            </a:r>
            <a:endParaRPr kumimoji="0" sz="1333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65" name="Google Shape;965;p115"/>
          <p:cNvSpPr/>
          <p:nvPr/>
        </p:nvSpPr>
        <p:spPr>
          <a:xfrm>
            <a:off x="8473467" y="5539080"/>
            <a:ext cx="1792800" cy="268800"/>
          </a:xfrm>
          <a:prstGeom prst="roundRect">
            <a:avLst>
              <a:gd name="adj" fmla="val 16667"/>
            </a:avLst>
          </a:prstGeom>
          <a:solidFill>
            <a:srgbClr val="EADBB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33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utfit"/>
                <a:ea typeface="Outfit"/>
                <a:cs typeface="Outfit"/>
                <a:sym typeface="Outfit"/>
              </a:rPr>
              <a:t>Output as JSON</a:t>
            </a:r>
            <a:endParaRPr kumimoji="0" sz="1467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66" name="Google Shape;966;p115"/>
          <p:cNvSpPr txBox="1"/>
          <p:nvPr/>
        </p:nvSpPr>
        <p:spPr>
          <a:xfrm>
            <a:off x="4517000" y="3602271"/>
            <a:ext cx="31580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None/>
              <a:tabLst/>
              <a:defRPr/>
            </a:pPr>
            <a:r>
              <a:rPr kumimoji="0" lang="en" sz="2400" b="0" i="0" u="none" strike="noStrike" kern="1200" cap="none" spc="0" normalizeH="0" baseline="0" noProof="0">
                <a:ln>
                  <a:noFill/>
                </a:ln>
                <a:solidFill>
                  <a:srgbClr val="780E0D"/>
                </a:solidFill>
                <a:effectLst/>
                <a:uLnTx/>
                <a:uFillTx/>
                <a:latin typeface="Outfit SemiBold"/>
                <a:ea typeface="Outfit SemiBold"/>
                <a:cs typeface="Outfit SemiBold"/>
                <a:sym typeface="Outfit SemiBold"/>
              </a:rPr>
              <a:t>Resources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780E0D"/>
              </a:solidFill>
              <a:effectLst/>
              <a:uLnTx/>
              <a:uFillTx/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967" name="Google Shape;967;p115"/>
          <p:cNvSpPr txBox="1"/>
          <p:nvPr/>
        </p:nvSpPr>
        <p:spPr>
          <a:xfrm>
            <a:off x="5020267" y="4164533"/>
            <a:ext cx="22112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utfit"/>
                <a:ea typeface="Outfit"/>
                <a:cs typeface="Outfit"/>
                <a:sym typeface="Outfit"/>
              </a:rPr>
              <a:t>Data or content exposed by the server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68" name="Google Shape;968;p115"/>
          <p:cNvSpPr/>
          <p:nvPr/>
        </p:nvSpPr>
        <p:spPr>
          <a:xfrm>
            <a:off x="5199600" y="4854056"/>
            <a:ext cx="1792800" cy="268800"/>
          </a:xfrm>
          <a:prstGeom prst="roundRect">
            <a:avLst>
              <a:gd name="adj" fmla="val 16667"/>
            </a:avLst>
          </a:prstGeom>
          <a:solidFill>
            <a:srgbClr val="EADBB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33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utfit"/>
                <a:ea typeface="Outfit"/>
                <a:cs typeface="Outfit"/>
                <a:sym typeface="Outfit"/>
              </a:rPr>
              <a:t>Files</a:t>
            </a:r>
            <a:endParaRPr kumimoji="0" sz="1467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69" name="Google Shape;969;p115"/>
          <p:cNvSpPr/>
          <p:nvPr/>
        </p:nvSpPr>
        <p:spPr>
          <a:xfrm>
            <a:off x="5199600" y="5196315"/>
            <a:ext cx="1792800" cy="268800"/>
          </a:xfrm>
          <a:prstGeom prst="roundRect">
            <a:avLst>
              <a:gd name="adj" fmla="val 16667"/>
            </a:avLst>
          </a:prstGeom>
          <a:solidFill>
            <a:srgbClr val="EADBB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33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utfit"/>
                <a:ea typeface="Outfit"/>
                <a:cs typeface="Outfit"/>
                <a:sym typeface="Outfit"/>
              </a:rPr>
              <a:t>Database Records</a:t>
            </a:r>
            <a:endParaRPr kumimoji="0" sz="1467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0" name="Google Shape;970;p115"/>
          <p:cNvSpPr/>
          <p:nvPr/>
        </p:nvSpPr>
        <p:spPr>
          <a:xfrm>
            <a:off x="5199600" y="5539600"/>
            <a:ext cx="1792800" cy="268800"/>
          </a:xfrm>
          <a:prstGeom prst="roundRect">
            <a:avLst>
              <a:gd name="adj" fmla="val 16667"/>
            </a:avLst>
          </a:prstGeom>
          <a:solidFill>
            <a:srgbClr val="EADBB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33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utfit"/>
                <a:ea typeface="Outfit"/>
                <a:cs typeface="Outfit"/>
                <a:sym typeface="Outfit"/>
              </a:rPr>
              <a:t>API Responses</a:t>
            </a:r>
            <a:endParaRPr kumimoji="0" sz="1467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1DF6AA-7052-BEB4-0ABB-60AF7A413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DB44-4C01-5756-9D17-7BA0866C1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403" y="2413472"/>
            <a:ext cx="6105194" cy="203105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altLang="zh-CN" sz="6000" dirty="0">
                <a:solidFill>
                  <a:srgbClr val="FFFFFF"/>
                </a:solidFill>
              </a:rPr>
              <a:t>How?</a:t>
            </a:r>
            <a:br>
              <a:rPr lang="en-US" altLang="zh-CN" sz="6000" dirty="0">
                <a:solidFill>
                  <a:srgbClr val="FFFFFF"/>
                </a:solidFill>
              </a:rPr>
            </a:br>
            <a:r>
              <a:rPr lang="en-US" altLang="zh-CN" sz="6000" dirty="0">
                <a:solidFill>
                  <a:srgbClr val="FFFFFF"/>
                </a:solidFill>
              </a:rPr>
              <a:t>Using and Implementing MCP</a:t>
            </a:r>
          </a:p>
        </p:txBody>
      </p:sp>
    </p:spTree>
    <p:extLst>
      <p:ext uri="{BB962C8B-B14F-4D97-AF65-F5344CB8AC3E}">
        <p14:creationId xmlns:p14="http://schemas.microsoft.com/office/powerpoint/2010/main" val="3052753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54DE8-8029-23AF-786C-4EBF1039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FBC72-921A-E866-8862-4F217C48E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1" y="1189178"/>
            <a:ext cx="11653521" cy="338252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 Install application that support MCP integrations: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https://modelcontextprotocol.io/clients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2.  Install/config MCP Server: 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https://modelcontextprotocol.io/examples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072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F4F1F-E80A-EF2B-8575-992FD7180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746"/>
            <a:ext cx="10515600" cy="1057990"/>
          </a:xfrm>
        </p:spPr>
        <p:txBody>
          <a:bodyPr/>
          <a:lstStyle/>
          <a:p>
            <a:r>
              <a:rPr lang="en-US"/>
              <a:t>Popular Applications that support 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E473-2C26-075D-51DD-CF1C0BCCD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9178"/>
            <a:ext cx="11084562" cy="2055114"/>
          </a:xfrm>
        </p:spPr>
        <p:txBody>
          <a:bodyPr/>
          <a:lstStyle/>
          <a:p>
            <a:r>
              <a:rPr lang="en-US" dirty="0"/>
              <a:t>Claude Desktop</a:t>
            </a:r>
          </a:p>
          <a:p>
            <a:r>
              <a:rPr lang="en-US" dirty="0"/>
              <a:t>Cline</a:t>
            </a:r>
          </a:p>
          <a:p>
            <a:r>
              <a:rPr lang="en-US" dirty="0"/>
              <a:t>VS Code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0D6CC3E-6D4A-0A78-38C2-3FFE26C44102}"/>
              </a:ext>
            </a:extLst>
          </p:cNvPr>
          <p:cNvSpPr txBox="1"/>
          <p:nvPr/>
        </p:nvSpPr>
        <p:spPr>
          <a:xfrm>
            <a:off x="2457450" y="6022702"/>
            <a:ext cx="72770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000" dirty="0">
                <a:hlinkClick r:id="rId2"/>
              </a:rPr>
              <a:t>https://</a:t>
            </a:r>
            <a:r>
              <a:rPr lang="es-ES" sz="3000" dirty="0" err="1">
                <a:hlinkClick r:id="rId2"/>
              </a:rPr>
              <a:t>modelcontextprotocol.io</a:t>
            </a:r>
            <a:r>
              <a:rPr lang="es-ES" sz="3000" dirty="0">
                <a:hlinkClick r:id="rId2"/>
              </a:rPr>
              <a:t>/</a:t>
            </a:r>
            <a:r>
              <a:rPr lang="es-ES" sz="3000" dirty="0" err="1">
                <a:hlinkClick r:id="rId2"/>
              </a:rPr>
              <a:t>clients</a:t>
            </a: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18949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FF879-A9B0-F493-7D68-8C0F42C37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939" y="24330"/>
            <a:ext cx="5550514" cy="796234"/>
          </a:xfrm>
        </p:spPr>
        <p:txBody>
          <a:bodyPr>
            <a:normAutofit/>
          </a:bodyPr>
          <a:lstStyle/>
          <a:p>
            <a:r>
              <a:rPr lang="en-US" sz="3600"/>
              <a:t>Popular MCP Server 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643FB-8277-9A78-184D-39E1AB719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49" y="736665"/>
            <a:ext cx="6096000" cy="1901928"/>
          </a:xfrm>
        </p:spPr>
        <p:txBody>
          <a:bodyPr>
            <a:normAutofit/>
          </a:bodyPr>
          <a:lstStyle/>
          <a:p>
            <a:r>
              <a:rPr lang="en-US" sz="2400">
                <a:hlinkClick r:id="rId2"/>
              </a:rPr>
              <a:t>https://mcp.so/servers</a:t>
            </a:r>
            <a:r>
              <a:rPr lang="en-US" sz="2400"/>
              <a:t> </a:t>
            </a:r>
          </a:p>
          <a:p>
            <a:r>
              <a:rPr lang="en-US" sz="2400">
                <a:hlinkClick r:id="rId3"/>
              </a:rPr>
              <a:t>https://glama.ai/mcp/servers</a:t>
            </a:r>
            <a:r>
              <a:rPr lang="en-US" sz="2400"/>
              <a:t> </a:t>
            </a:r>
          </a:p>
          <a:p>
            <a:r>
              <a:rPr lang="en-US" sz="2400">
                <a:hlinkClick r:id="rId4"/>
              </a:rPr>
              <a:t>https://smithery.ai/</a:t>
            </a:r>
            <a:r>
              <a:rPr lang="en-US" sz="2400"/>
              <a:t> </a:t>
            </a:r>
          </a:p>
          <a:p>
            <a:r>
              <a:rPr lang="en-US" sz="2400">
                <a:hlinkClick r:id="rId5"/>
              </a:rPr>
              <a:t>https://www.pulsemcp.com/servers</a:t>
            </a:r>
            <a:r>
              <a:rPr lang="en-US" sz="24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A07EEB-A40E-877E-AB45-60FFA294B3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2691" y="24330"/>
            <a:ext cx="5671930" cy="33843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86EF30-41B7-4089-BCF9-5DD5EB2DD0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96" y="2563464"/>
            <a:ext cx="6416920" cy="42702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04DF2C-D375-588B-6450-61F456F420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5313" y="3259755"/>
            <a:ext cx="5746687" cy="359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644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F2596-C71F-F80C-B7D2-1EA173A80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8"/>
            <a:ext cx="10515600" cy="939574"/>
          </a:xfrm>
        </p:spPr>
        <p:txBody>
          <a:bodyPr/>
          <a:lstStyle/>
          <a:p>
            <a:r>
              <a:rPr lang="en-US" dirty="0"/>
              <a:t>VS Code support MCP now!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96F68CC-8EED-BE0C-139D-AB895DE8E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08" y="957272"/>
            <a:ext cx="10793184" cy="581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540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D4E79-CDDB-199B-C3FA-E5DDD6B62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5069"/>
          </a:xfrm>
        </p:spPr>
        <p:txBody>
          <a:bodyPr/>
          <a:lstStyle/>
          <a:p>
            <a:r>
              <a:rPr lang="en-US"/>
              <a:t>Install/config MCP Server in VS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48A588-AD94-BBCB-56E6-A0A7C8711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02158"/>
            <a:ext cx="3396943" cy="41644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FF6884-62EB-1508-C158-5C512A98F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961" y="1841784"/>
            <a:ext cx="4106517" cy="412487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5E1CF61-C866-2BA6-42F5-09855B4E3455}"/>
              </a:ext>
            </a:extLst>
          </p:cNvPr>
          <p:cNvSpPr txBox="1"/>
          <p:nvPr/>
        </p:nvSpPr>
        <p:spPr>
          <a:xfrm>
            <a:off x="703118" y="6112127"/>
            <a:ext cx="10785764" cy="30777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s-ES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</a:t>
            </a:r>
            <a:r>
              <a:rPr lang="es-ES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add-mcp</a:t>
            </a: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'{"</a:t>
            </a:r>
            <a:r>
              <a:rPr lang="es-ES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":"</a:t>
            </a:r>
            <a:r>
              <a:rPr lang="es-ES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mcp</a:t>
            </a: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s-ES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</a:t>
            </a: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s-ES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-runner","</a:t>
            </a:r>
            <a:r>
              <a:rPr lang="es-ES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command</a:t>
            </a: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":"</a:t>
            </a:r>
            <a:r>
              <a:rPr lang="es-ES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npx</a:t>
            </a: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s-ES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":[”-y", " </a:t>
            </a:r>
            <a:r>
              <a:rPr lang="es-ES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mcp</a:t>
            </a: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-server-</a:t>
            </a:r>
            <a:r>
              <a:rPr lang="es-ES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-runner"]}'</a:t>
            </a:r>
          </a:p>
        </p:txBody>
      </p:sp>
    </p:spTree>
    <p:extLst>
      <p:ext uri="{BB962C8B-B14F-4D97-AF65-F5344CB8AC3E}">
        <p14:creationId xmlns:p14="http://schemas.microsoft.com/office/powerpoint/2010/main" val="35461236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24D21-276A-B5EC-59D5-3B2F475CE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510"/>
            <a:ext cx="10515600" cy="1325563"/>
          </a:xfrm>
        </p:spPr>
        <p:txBody>
          <a:bodyPr/>
          <a:lstStyle/>
          <a:p>
            <a:r>
              <a:rPr lang="en-US"/>
              <a:t>Implementing 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02314-F96F-FE47-CAF3-8A58D0C63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57" y="1511073"/>
            <a:ext cx="11473543" cy="5020356"/>
          </a:xfrm>
        </p:spPr>
        <p:txBody>
          <a:bodyPr>
            <a:normAutofit/>
          </a:bodyPr>
          <a:lstStyle/>
          <a:p>
            <a:r>
              <a:rPr lang="en-US" altLang="zh-CN" dirty="0"/>
              <a:t>SDKs for building MCP Client and MCP Server</a:t>
            </a:r>
          </a:p>
          <a:p>
            <a:pPr lvl="1"/>
            <a:r>
              <a:rPr lang="en-US" b="0" i="0" u="sng" dirty="0">
                <a:solidFill>
                  <a:srgbClr val="1F2328"/>
                </a:solidFill>
                <a:effectLst/>
                <a:latin typeface="-apple-system"/>
                <a:hlinkClick r:id="rId2"/>
              </a:rPr>
              <a:t>TypeScript SDK</a:t>
            </a:r>
            <a:endParaRPr lang="en-US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/>
            <a:r>
              <a:rPr lang="en-US" b="0" i="0" u="sng" dirty="0">
                <a:solidFill>
                  <a:srgbClr val="1F2328"/>
                </a:solidFill>
                <a:effectLst/>
                <a:latin typeface="-apple-system"/>
                <a:hlinkClick r:id="rId3"/>
              </a:rPr>
              <a:t>Python SDK</a:t>
            </a:r>
            <a:endParaRPr lang="en-US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/>
            <a:r>
              <a:rPr lang="en-US" b="0" i="0" u="sng" dirty="0">
                <a:solidFill>
                  <a:srgbClr val="1F2328"/>
                </a:solidFill>
                <a:effectLst/>
                <a:latin typeface="-apple-system"/>
                <a:hlinkClick r:id="rId4"/>
              </a:rPr>
              <a:t>Java SDK</a:t>
            </a:r>
            <a:endParaRPr lang="en-US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/>
            <a:r>
              <a:rPr lang="en-US" b="0" i="0" u="sng" dirty="0">
                <a:solidFill>
                  <a:srgbClr val="1F2328"/>
                </a:solidFill>
                <a:effectLst/>
                <a:latin typeface="-apple-system"/>
                <a:hlinkClick r:id="rId5"/>
              </a:rPr>
              <a:t>Kotlin SDK</a:t>
            </a:r>
            <a:endParaRPr lang="en-US" b="0" i="0" u="sng" dirty="0">
              <a:solidFill>
                <a:srgbClr val="1F2328"/>
              </a:solidFill>
              <a:effectLst/>
              <a:latin typeface="-apple-system"/>
            </a:endParaRPr>
          </a:p>
          <a:p>
            <a:pPr lvl="1"/>
            <a:r>
              <a:rPr lang="en-US" b="0" i="0" u="sng" dirty="0">
                <a:effectLst/>
                <a:latin typeface="-apple-system"/>
                <a:hlinkClick r:id="rId6"/>
              </a:rPr>
              <a:t>C# SDK</a:t>
            </a:r>
            <a:endParaRPr lang="en-US" altLang="zh-CN" dirty="0"/>
          </a:p>
          <a:p>
            <a:r>
              <a:rPr lang="en-US" altLang="zh-CN" dirty="0"/>
              <a:t>Tooling</a:t>
            </a:r>
          </a:p>
          <a:p>
            <a:pPr lvl="1"/>
            <a:r>
              <a:rPr lang="en-US" dirty="0">
                <a:hlinkClick r:id="rId7"/>
              </a:rPr>
              <a:t>MCP Inspector</a:t>
            </a:r>
            <a:r>
              <a:rPr lang="en-US" dirty="0"/>
              <a:t>: interactive developer tool for testing and debugging MCP Server</a:t>
            </a:r>
          </a:p>
          <a:p>
            <a:pPr lvl="1"/>
            <a:r>
              <a:rPr lang="en-US" dirty="0">
                <a:hlinkClick r:id="rId8"/>
              </a:rPr>
              <a:t>generator-mcp</a:t>
            </a:r>
            <a:r>
              <a:rPr lang="en-US" dirty="0"/>
              <a:t>: </a:t>
            </a:r>
            <a:r>
              <a:rPr lang="en-US" i="0" dirty="0">
                <a:solidFill>
                  <a:srgbClr val="1F2328"/>
                </a:solidFill>
                <a:effectLst/>
                <a:latin typeface="-apple-system"/>
              </a:rPr>
              <a:t>Yeoman Generator for MCP Server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710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5FB63-7EA1-E289-14C3-FAF89BA75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Create a MCP Server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700BD-CD7F-9C47-E5C6-C25B85660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1" y="1189178"/>
            <a:ext cx="11653521" cy="47016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200" b="1" dirty="0"/>
              <a:t>Prerequisites: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Latest VS Code Insiders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.NET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Node.js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Steps: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Create a .NET console App.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Add the NuGet package </a:t>
            </a:r>
            <a:r>
              <a:rPr lang="en-US" sz="3200" dirty="0" err="1"/>
              <a:t>ModelContextProtocol</a:t>
            </a:r>
            <a:r>
              <a:rPr lang="en-US" sz="3200" dirty="0"/>
              <a:t> </a:t>
            </a:r>
            <a:r>
              <a:rPr lang="en-US" sz="3200" dirty="0">
                <a:hlinkClick r:id="rId2"/>
              </a:rPr>
              <a:t>https://www.nuget.org/packages/ModelContextProtocol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Implement your Tool logic for MCP Server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Debug/Test </a:t>
            </a:r>
            <a:r>
              <a:rPr lang="en-US" altLang="zh-CN" sz="3200" dirty="0"/>
              <a:t>MCP Server in MCP </a:t>
            </a:r>
            <a:r>
              <a:rPr lang="en-US" sz="3200" dirty="0"/>
              <a:t>Inspector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Run </a:t>
            </a:r>
            <a:r>
              <a:rPr lang="en-US" altLang="zh-CN" sz="3200" dirty="0"/>
              <a:t>MCP Server</a:t>
            </a:r>
            <a:r>
              <a:rPr lang="en-US" sz="3200" dirty="0"/>
              <a:t> in VS Code Agent Mode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240805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C2AF-38EC-D293-6EC1-978B6F3B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F8928-F099-B01E-D6E1-9D83237A0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Starting up our server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D6F63-95EE-DDDE-3046-906D03D50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1" y="1189179"/>
            <a:ext cx="11653521" cy="15073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000" dirty="0" err="1"/>
              <a:t>Update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 </a:t>
            </a:r>
            <a:r>
              <a:rPr lang="es-ES" sz="3000" dirty="0" err="1"/>
              <a:t>Program.cs</a:t>
            </a:r>
            <a:r>
              <a:rPr lang="es-ES" sz="3000" dirty="0"/>
              <a:t> </a:t>
            </a:r>
            <a:r>
              <a:rPr lang="es-ES" sz="3000" dirty="0" err="1"/>
              <a:t>with</a:t>
            </a:r>
            <a:r>
              <a:rPr lang="es-ES" sz="3000" dirty="0"/>
              <a:t> </a:t>
            </a:r>
            <a:r>
              <a:rPr lang="es-ES" sz="3000" dirty="0" err="1"/>
              <a:t>some</a:t>
            </a:r>
            <a:r>
              <a:rPr lang="es-ES" sz="3000" dirty="0"/>
              <a:t> </a:t>
            </a:r>
            <a:r>
              <a:rPr lang="es-ES" sz="3000" dirty="0" err="1"/>
              <a:t>basic</a:t>
            </a:r>
            <a:r>
              <a:rPr lang="es-ES" sz="3000" dirty="0"/>
              <a:t> </a:t>
            </a:r>
            <a:r>
              <a:rPr lang="es-ES" sz="3000" dirty="0" err="1"/>
              <a:t>scaffolding</a:t>
            </a:r>
            <a:r>
              <a:rPr lang="es-ES" sz="3000" dirty="0"/>
              <a:t>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create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 MCP server, configure standard server </a:t>
            </a:r>
            <a:r>
              <a:rPr lang="es-ES" sz="3000" dirty="0" err="1"/>
              <a:t>transport</a:t>
            </a:r>
            <a:r>
              <a:rPr lang="es-ES" sz="3000" dirty="0"/>
              <a:t>, and </a:t>
            </a:r>
            <a:r>
              <a:rPr lang="es-ES" sz="3000" dirty="0" err="1"/>
              <a:t>tell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 server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search</a:t>
            </a:r>
            <a:r>
              <a:rPr lang="es-ES" sz="3000" dirty="0"/>
              <a:t> </a:t>
            </a:r>
            <a:r>
              <a:rPr lang="es-ES" sz="3000" dirty="0" err="1"/>
              <a:t>for</a:t>
            </a:r>
            <a:r>
              <a:rPr lang="es-ES" sz="3000" dirty="0"/>
              <a:t> </a:t>
            </a:r>
            <a:r>
              <a:rPr lang="es-ES" sz="3000" b="1" dirty="0"/>
              <a:t>Tools</a:t>
            </a:r>
            <a:r>
              <a:rPr lang="es-ES" sz="3000" dirty="0"/>
              <a:t> (</a:t>
            </a:r>
            <a:r>
              <a:rPr lang="es-ES" sz="3000" dirty="0" err="1"/>
              <a:t>or</a:t>
            </a:r>
            <a:r>
              <a:rPr lang="es-ES" sz="3000" dirty="0"/>
              <a:t> </a:t>
            </a:r>
            <a:r>
              <a:rPr lang="es-ES" sz="3000" dirty="0" err="1"/>
              <a:t>available</a:t>
            </a:r>
            <a:r>
              <a:rPr lang="es-ES" sz="3000" dirty="0"/>
              <a:t> </a:t>
            </a:r>
            <a:r>
              <a:rPr lang="es-ES" sz="3000" dirty="0" err="1"/>
              <a:t>APIs</a:t>
            </a:r>
            <a:r>
              <a:rPr lang="es-ES" sz="3000" dirty="0"/>
              <a:t>) </a:t>
            </a:r>
            <a:r>
              <a:rPr lang="es-ES" sz="3000" dirty="0" err="1"/>
              <a:t>from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 running </a:t>
            </a:r>
            <a:r>
              <a:rPr lang="es-ES" sz="3000" dirty="0" err="1"/>
              <a:t>assembly</a:t>
            </a:r>
            <a:r>
              <a:rPr lang="es-ES" sz="3000" dirty="0"/>
              <a:t>.</a:t>
            </a:r>
            <a:endParaRPr lang="en-US" sz="30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ECA041F-D370-F80A-4861-AC2A2FA2D34A}"/>
              </a:ext>
            </a:extLst>
          </p:cNvPr>
          <p:cNvSpPr txBox="1"/>
          <p:nvPr/>
        </p:nvSpPr>
        <p:spPr>
          <a:xfrm>
            <a:off x="436205" y="2598171"/>
            <a:ext cx="11199067" cy="341632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Microsoft.Extensions.DependencyInjection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Microsoft.Extensions.Hosting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ModelContextProtocol.Server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System.ComponentModel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s-ES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builder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Host.CreateEmptyApplicationBuilder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settings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builder.Services</a:t>
            </a:r>
            <a:endParaRPr lang="es-ES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AddMcpServer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WithStdioServerTransport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WithToolsFromAssembly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endParaRPr lang="es-ES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builder.Build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RunAsync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120736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F5362-7D92-0317-9C35-CFEA15DA1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DEB63-6055-AEB3-BABF-EF9427FB5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Defining a tool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6955D-A18A-0500-735C-997F90786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1" y="1189179"/>
            <a:ext cx="11653521" cy="27110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000" dirty="0"/>
              <a:t>In </a:t>
            </a:r>
            <a:r>
              <a:rPr lang="es-ES" sz="3000" dirty="0" err="1"/>
              <a:t>our</a:t>
            </a:r>
            <a:r>
              <a:rPr lang="es-ES" sz="3000" dirty="0"/>
              <a:t> startup </a:t>
            </a:r>
            <a:r>
              <a:rPr lang="es-ES" sz="3000" dirty="0" err="1"/>
              <a:t>code</a:t>
            </a:r>
            <a:r>
              <a:rPr lang="es-ES" sz="3000" dirty="0"/>
              <a:t>, </a:t>
            </a:r>
            <a:r>
              <a:rPr lang="es-ES" sz="3000" dirty="0" err="1"/>
              <a:t>the</a:t>
            </a:r>
            <a:r>
              <a:rPr lang="es-ES" sz="3000" dirty="0"/>
              <a:t> </a:t>
            </a:r>
            <a:r>
              <a:rPr lang="es-ES" sz="3000" dirty="0" err="1"/>
              <a:t>WithToolsFromAssembly</a:t>
            </a:r>
            <a:r>
              <a:rPr lang="es-ES" sz="3000" dirty="0"/>
              <a:t> </a:t>
            </a:r>
            <a:r>
              <a:rPr lang="es-ES" sz="3000" dirty="0" err="1"/>
              <a:t>will</a:t>
            </a:r>
            <a:r>
              <a:rPr lang="es-ES" sz="3000" dirty="0"/>
              <a:t> </a:t>
            </a:r>
            <a:r>
              <a:rPr lang="es-ES" sz="3000" dirty="0" err="1"/>
              <a:t>scan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 </a:t>
            </a:r>
            <a:r>
              <a:rPr lang="es-ES" sz="3000" dirty="0" err="1"/>
              <a:t>assembly</a:t>
            </a:r>
            <a:r>
              <a:rPr lang="es-ES" sz="3000" dirty="0"/>
              <a:t> </a:t>
            </a:r>
            <a:r>
              <a:rPr lang="es-ES" sz="3000" dirty="0" err="1"/>
              <a:t>for</a:t>
            </a:r>
            <a:r>
              <a:rPr lang="es-ES" sz="3000" dirty="0"/>
              <a:t> </a:t>
            </a:r>
            <a:r>
              <a:rPr lang="es-ES" sz="3000" dirty="0" err="1"/>
              <a:t>classes</a:t>
            </a:r>
            <a:r>
              <a:rPr lang="es-ES" sz="3000" dirty="0"/>
              <a:t> </a:t>
            </a:r>
            <a:r>
              <a:rPr lang="es-ES" sz="3000" dirty="0" err="1"/>
              <a:t>with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 </a:t>
            </a:r>
            <a:r>
              <a:rPr lang="es-ES" sz="3000" b="1" dirty="0" err="1"/>
              <a:t>McpServerToolType</a:t>
            </a:r>
            <a:r>
              <a:rPr lang="es-ES" sz="3000" dirty="0"/>
              <a:t> </a:t>
            </a:r>
            <a:r>
              <a:rPr lang="es-ES" sz="3000" dirty="0" err="1"/>
              <a:t>attribute</a:t>
            </a:r>
            <a:r>
              <a:rPr lang="es-ES" sz="3000" dirty="0"/>
              <a:t> and </a:t>
            </a:r>
            <a:r>
              <a:rPr lang="es-ES" sz="3000" dirty="0" err="1"/>
              <a:t>register</a:t>
            </a:r>
            <a:r>
              <a:rPr lang="es-ES" sz="3000" dirty="0"/>
              <a:t> </a:t>
            </a:r>
            <a:r>
              <a:rPr lang="es-ES" sz="3000" dirty="0" err="1"/>
              <a:t>all</a:t>
            </a:r>
            <a:r>
              <a:rPr lang="es-ES" sz="3000" dirty="0"/>
              <a:t> </a:t>
            </a:r>
            <a:r>
              <a:rPr lang="es-ES" sz="3000" dirty="0" err="1"/>
              <a:t>methods</a:t>
            </a:r>
            <a:r>
              <a:rPr lang="es-ES" sz="3000" dirty="0"/>
              <a:t> </a:t>
            </a:r>
            <a:r>
              <a:rPr lang="es-ES" sz="3000" dirty="0" err="1"/>
              <a:t>with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 </a:t>
            </a:r>
            <a:r>
              <a:rPr lang="es-ES" sz="3000" b="1" dirty="0" err="1"/>
              <a:t>McpServerTool</a:t>
            </a:r>
            <a:r>
              <a:rPr lang="es-ES" sz="3000" dirty="0"/>
              <a:t> </a:t>
            </a:r>
            <a:r>
              <a:rPr lang="es-ES" sz="3000" dirty="0" err="1"/>
              <a:t>attribute</a:t>
            </a:r>
            <a:r>
              <a:rPr lang="es-ES" sz="3000" dirty="0"/>
              <a:t>. </a:t>
            </a:r>
            <a:r>
              <a:rPr lang="es-ES" sz="3000" dirty="0" err="1"/>
              <a:t>Notice</a:t>
            </a:r>
            <a:r>
              <a:rPr lang="es-ES" sz="3000" dirty="0"/>
              <a:t> </a:t>
            </a:r>
            <a:r>
              <a:rPr lang="es-ES" sz="3000" dirty="0" err="1"/>
              <a:t>that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 </a:t>
            </a:r>
            <a:r>
              <a:rPr lang="es-ES" sz="3000" dirty="0" err="1"/>
              <a:t>McpServerTool</a:t>
            </a:r>
            <a:r>
              <a:rPr lang="es-ES" sz="3000" dirty="0"/>
              <a:t> has a </a:t>
            </a:r>
            <a:r>
              <a:rPr lang="es-ES" sz="3000" b="1" dirty="0" err="1"/>
              <a:t>Description</a:t>
            </a:r>
            <a:r>
              <a:rPr lang="es-ES" sz="3000" dirty="0"/>
              <a:t> </a:t>
            </a:r>
            <a:r>
              <a:rPr lang="es-ES" sz="3000" dirty="0" err="1"/>
              <a:t>which</a:t>
            </a:r>
            <a:r>
              <a:rPr lang="es-ES" sz="3000" dirty="0"/>
              <a:t> </a:t>
            </a:r>
            <a:r>
              <a:rPr lang="es-ES" sz="3000" dirty="0" err="1"/>
              <a:t>will</a:t>
            </a:r>
            <a:r>
              <a:rPr lang="es-ES" sz="3000" dirty="0"/>
              <a:t> be </a:t>
            </a:r>
            <a:r>
              <a:rPr lang="es-ES" sz="3000" dirty="0" err="1"/>
              <a:t>fed</a:t>
            </a:r>
            <a:r>
              <a:rPr lang="es-ES" sz="3000" dirty="0"/>
              <a:t> </a:t>
            </a:r>
            <a:r>
              <a:rPr lang="es-ES" sz="3000" dirty="0" err="1"/>
              <a:t>into</a:t>
            </a:r>
            <a:r>
              <a:rPr lang="es-ES" sz="3000" dirty="0"/>
              <a:t> </a:t>
            </a:r>
            <a:r>
              <a:rPr lang="es-ES" sz="3000" dirty="0" err="1"/>
              <a:t>any</a:t>
            </a:r>
            <a:r>
              <a:rPr lang="es-ES" sz="3000" dirty="0"/>
              <a:t> </a:t>
            </a:r>
            <a:r>
              <a:rPr lang="es-ES" sz="3000" dirty="0" err="1"/>
              <a:t>client</a:t>
            </a:r>
            <a:r>
              <a:rPr lang="es-ES" sz="3000" dirty="0"/>
              <a:t> </a:t>
            </a:r>
            <a:r>
              <a:rPr lang="es-ES" sz="3000" dirty="0" err="1"/>
              <a:t>connecting</a:t>
            </a:r>
            <a:r>
              <a:rPr lang="es-ES" sz="3000" dirty="0"/>
              <a:t>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 server. </a:t>
            </a:r>
            <a:r>
              <a:rPr lang="es-ES" sz="3000" dirty="0" err="1"/>
              <a:t>This</a:t>
            </a:r>
            <a:r>
              <a:rPr lang="es-ES" sz="3000" dirty="0"/>
              <a:t> </a:t>
            </a:r>
            <a:r>
              <a:rPr lang="es-ES" sz="3000" dirty="0" err="1"/>
              <a:t>description</a:t>
            </a:r>
            <a:r>
              <a:rPr lang="es-ES" sz="3000" dirty="0"/>
              <a:t> </a:t>
            </a:r>
            <a:r>
              <a:rPr lang="es-ES" sz="3000" dirty="0" err="1"/>
              <a:t>helps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 </a:t>
            </a:r>
            <a:r>
              <a:rPr lang="es-ES" sz="3000" dirty="0" err="1"/>
              <a:t>client</a:t>
            </a:r>
            <a:r>
              <a:rPr lang="es-ES" sz="3000" dirty="0"/>
              <a:t> determine </a:t>
            </a:r>
            <a:r>
              <a:rPr lang="es-ES" sz="3000" dirty="0" err="1"/>
              <a:t>which</a:t>
            </a:r>
            <a:r>
              <a:rPr lang="es-ES" sz="3000" dirty="0"/>
              <a:t> </a:t>
            </a:r>
            <a:r>
              <a:rPr lang="es-ES" sz="3000" dirty="0" err="1"/>
              <a:t>tool</a:t>
            </a:r>
            <a:r>
              <a:rPr lang="es-ES" sz="3000" dirty="0"/>
              <a:t>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call</a:t>
            </a:r>
            <a:r>
              <a:rPr lang="es-ES" sz="3000" dirty="0"/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BCDA0C1-EABA-3D31-4992-2409E262CE44}"/>
              </a:ext>
            </a:extLst>
          </p:cNvPr>
          <p:cNvSpPr txBox="1"/>
          <p:nvPr/>
        </p:nvSpPr>
        <p:spPr>
          <a:xfrm>
            <a:off x="373223" y="3812358"/>
            <a:ext cx="11262049" cy="286232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McpServerToolType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EchoTool</a:t>
            </a:r>
            <a:endParaRPr lang="es-ES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[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McpServerTool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Description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Echoes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back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.")]</a:t>
            </a: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Echo(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=&gt; $"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C#: {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}";</a:t>
            </a:r>
          </a:p>
          <a:p>
            <a:endParaRPr lang="es-ES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[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McpServerTool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Description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Echoes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reverse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sent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.")]</a:t>
            </a: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ReverseEcho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=&gt; new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message.Reverse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ToArray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8535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642D6-4148-0A03-75C5-B047A2F77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0F92-B2A8-6356-69B3-097A1201C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Publish a MCP Server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BD562-6222-7573-7D0F-659649F8E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1" y="1189178"/>
            <a:ext cx="11653521" cy="4427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000" dirty="0"/>
              <a:t>.NET </a:t>
            </a:r>
            <a:r>
              <a:rPr lang="es-ES" sz="3000" dirty="0" err="1"/>
              <a:t>makes</a:t>
            </a:r>
            <a:r>
              <a:rPr lang="es-ES" sz="3000" dirty="0"/>
              <a:t> </a:t>
            </a:r>
            <a:r>
              <a:rPr lang="es-ES" sz="3000" dirty="0" err="1"/>
              <a:t>it</a:t>
            </a:r>
            <a:r>
              <a:rPr lang="es-ES" sz="3000" dirty="0"/>
              <a:t> simple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easily</a:t>
            </a:r>
            <a:r>
              <a:rPr lang="es-ES" sz="3000" dirty="0"/>
              <a:t> </a:t>
            </a:r>
            <a:r>
              <a:rPr lang="es-ES" sz="3000" dirty="0" err="1"/>
              <a:t>create</a:t>
            </a:r>
            <a:r>
              <a:rPr lang="es-ES" sz="3000" dirty="0"/>
              <a:t> container </a:t>
            </a:r>
            <a:r>
              <a:rPr lang="es-ES" sz="3000" dirty="0" err="1"/>
              <a:t>images</a:t>
            </a:r>
            <a:r>
              <a:rPr lang="es-ES" sz="3000" dirty="0"/>
              <a:t> </a:t>
            </a:r>
            <a:r>
              <a:rPr lang="es-ES" sz="3000" dirty="0" err="1"/>
              <a:t>for</a:t>
            </a:r>
            <a:r>
              <a:rPr lang="es-ES" sz="3000" dirty="0"/>
              <a:t> </a:t>
            </a:r>
            <a:r>
              <a:rPr lang="es-ES" sz="3000" dirty="0" err="1"/>
              <a:t>any</a:t>
            </a:r>
            <a:r>
              <a:rPr lang="es-ES" sz="3000" dirty="0"/>
              <a:t> .NET app. </a:t>
            </a:r>
            <a:r>
              <a:rPr lang="es-ES" sz="3000" dirty="0" err="1"/>
              <a:t>All</a:t>
            </a:r>
            <a:r>
              <a:rPr lang="es-ES" sz="3000" dirty="0"/>
              <a:t> </a:t>
            </a:r>
            <a:r>
              <a:rPr lang="es-ES" sz="3000" dirty="0" err="1"/>
              <a:t>that</a:t>
            </a:r>
            <a:r>
              <a:rPr lang="es-ES" sz="3000" dirty="0"/>
              <a:t> </a:t>
            </a:r>
            <a:r>
              <a:rPr lang="es-ES" sz="3000" dirty="0" err="1"/>
              <a:t>needs</a:t>
            </a:r>
            <a:r>
              <a:rPr lang="es-ES" sz="3000" dirty="0"/>
              <a:t> </a:t>
            </a:r>
            <a:r>
              <a:rPr lang="es-ES" sz="3000" dirty="0" err="1"/>
              <a:t>to</a:t>
            </a:r>
            <a:r>
              <a:rPr lang="es-ES" sz="3000" dirty="0"/>
              <a:t> be done </a:t>
            </a:r>
            <a:r>
              <a:rPr lang="es-ES" sz="3000" dirty="0" err="1"/>
              <a:t>is</a:t>
            </a:r>
            <a:r>
              <a:rPr lang="es-ES" sz="3000" dirty="0"/>
              <a:t> </a:t>
            </a:r>
            <a:r>
              <a:rPr lang="es-ES" sz="3000" dirty="0" err="1"/>
              <a:t>add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 </a:t>
            </a:r>
            <a:r>
              <a:rPr lang="es-ES" sz="3000" dirty="0" err="1"/>
              <a:t>necessary</a:t>
            </a:r>
            <a:r>
              <a:rPr lang="es-ES" sz="3000" dirty="0"/>
              <a:t> </a:t>
            </a:r>
            <a:r>
              <a:rPr lang="es-ES" sz="3000" dirty="0" err="1"/>
              <a:t>configuration</a:t>
            </a:r>
            <a:r>
              <a:rPr lang="es-ES" sz="3000" dirty="0"/>
              <a:t> </a:t>
            </a:r>
            <a:r>
              <a:rPr lang="es-ES" sz="3000" dirty="0" err="1"/>
              <a:t>into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 </a:t>
            </a:r>
            <a:r>
              <a:rPr lang="es-ES" sz="3000" dirty="0" err="1"/>
              <a:t>project</a:t>
            </a:r>
            <a:r>
              <a:rPr lang="es-ES" sz="3000" dirty="0"/>
              <a:t> file:</a:t>
            </a:r>
          </a:p>
          <a:p>
            <a:pPr marL="0" indent="0">
              <a:buNone/>
            </a:pPr>
            <a:endParaRPr lang="es-ES" sz="3000" dirty="0"/>
          </a:p>
          <a:p>
            <a:pPr marL="0" indent="0">
              <a:buNone/>
            </a:pPr>
            <a:endParaRPr lang="es-ES" sz="3000" dirty="0"/>
          </a:p>
          <a:p>
            <a:pPr marL="0" indent="0">
              <a:buNone/>
            </a:pPr>
            <a:endParaRPr lang="es-ES" sz="3000" dirty="0"/>
          </a:p>
          <a:p>
            <a:pPr marL="0" indent="0">
              <a:buNone/>
            </a:pPr>
            <a:endParaRPr lang="es-ES" sz="3000" dirty="0"/>
          </a:p>
          <a:p>
            <a:pPr marL="0" indent="0">
              <a:buNone/>
            </a:pPr>
            <a:r>
              <a:rPr lang="es-ES" sz="3000" dirty="0" err="1"/>
              <a:t>If</a:t>
            </a:r>
            <a:r>
              <a:rPr lang="es-ES" sz="3000" dirty="0"/>
              <a:t> </a:t>
            </a:r>
            <a:r>
              <a:rPr lang="es-ES" sz="3000" dirty="0" err="1"/>
              <a:t>we</a:t>
            </a:r>
            <a:r>
              <a:rPr lang="es-ES" sz="3000" dirty="0"/>
              <a:t> </a:t>
            </a:r>
            <a:r>
              <a:rPr lang="es-ES" sz="3000" dirty="0" err="1"/>
              <a:t>want</a:t>
            </a:r>
            <a:r>
              <a:rPr lang="es-ES" sz="3000" dirty="0"/>
              <a:t>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take</a:t>
            </a:r>
            <a:r>
              <a:rPr lang="es-ES" sz="3000" dirty="0"/>
              <a:t> </a:t>
            </a:r>
            <a:r>
              <a:rPr lang="es-ES" sz="3000" dirty="0" err="1"/>
              <a:t>these</a:t>
            </a:r>
            <a:r>
              <a:rPr lang="es-ES" sz="3000" dirty="0"/>
              <a:t> </a:t>
            </a:r>
            <a:r>
              <a:rPr lang="es-ES" sz="3000" dirty="0" err="1"/>
              <a:t>images</a:t>
            </a:r>
            <a:r>
              <a:rPr lang="es-ES" sz="3000" dirty="0"/>
              <a:t> and </a:t>
            </a:r>
            <a:r>
              <a:rPr lang="es-ES" sz="3000" dirty="0" err="1"/>
              <a:t>upload</a:t>
            </a:r>
            <a:r>
              <a:rPr lang="es-ES" sz="3000" dirty="0"/>
              <a:t> </a:t>
            </a:r>
            <a:r>
              <a:rPr lang="es-ES" sz="3000" dirty="0" err="1"/>
              <a:t>them</a:t>
            </a:r>
            <a:r>
              <a:rPr lang="es-ES" sz="3000" dirty="0"/>
              <a:t>, </a:t>
            </a:r>
            <a:r>
              <a:rPr lang="es-ES" sz="3000" dirty="0" err="1"/>
              <a:t>we</a:t>
            </a:r>
            <a:r>
              <a:rPr lang="es-ES" sz="3000" dirty="0"/>
              <a:t> are </a:t>
            </a:r>
            <a:r>
              <a:rPr lang="es-ES" sz="3000" dirty="0" err="1"/>
              <a:t>able</a:t>
            </a:r>
            <a:r>
              <a:rPr lang="es-ES" sz="3000" dirty="0"/>
              <a:t> </a:t>
            </a:r>
            <a:r>
              <a:rPr lang="es-ES" sz="3000" dirty="0" err="1"/>
              <a:t>to</a:t>
            </a:r>
            <a:r>
              <a:rPr lang="es-ES" sz="3000" dirty="0"/>
              <a:t> do </a:t>
            </a:r>
            <a:r>
              <a:rPr lang="es-ES" sz="3000" dirty="0" err="1"/>
              <a:t>it</a:t>
            </a:r>
            <a:r>
              <a:rPr lang="es-ES" sz="3000" dirty="0"/>
              <a:t> </a:t>
            </a:r>
            <a:r>
              <a:rPr lang="es-ES" sz="3000" dirty="0" err="1"/>
              <a:t>all</a:t>
            </a:r>
            <a:r>
              <a:rPr lang="es-ES" sz="3000" dirty="0"/>
              <a:t> </a:t>
            </a:r>
            <a:r>
              <a:rPr lang="es-ES" sz="3000" dirty="0" err="1"/>
              <a:t>from</a:t>
            </a:r>
            <a:r>
              <a:rPr lang="es-ES" sz="3000" dirty="0"/>
              <a:t> </a:t>
            </a:r>
            <a:r>
              <a:rPr lang="es-ES" sz="3000" dirty="0" err="1"/>
              <a:t>the</a:t>
            </a:r>
            <a:r>
              <a:rPr lang="es-ES" sz="3000" dirty="0"/>
              <a:t> CLI </a:t>
            </a:r>
            <a:r>
              <a:rPr lang="es-ES" sz="3000" dirty="0" err="1"/>
              <a:t>by</a:t>
            </a:r>
            <a:r>
              <a:rPr lang="es-ES" sz="3000" dirty="0"/>
              <a:t> passing in </a:t>
            </a:r>
            <a:r>
              <a:rPr lang="es-ES" sz="3000" dirty="0" err="1"/>
              <a:t>the</a:t>
            </a:r>
            <a:r>
              <a:rPr lang="es-ES" sz="3000" dirty="0"/>
              <a:t> </a:t>
            </a:r>
            <a:r>
              <a:rPr lang="es-ES" sz="3000" dirty="0" err="1"/>
              <a:t>specific</a:t>
            </a:r>
            <a:r>
              <a:rPr lang="es-ES" sz="3000" dirty="0"/>
              <a:t> container </a:t>
            </a:r>
            <a:r>
              <a:rPr lang="es-ES" sz="3000" dirty="0" err="1"/>
              <a:t>register</a:t>
            </a:r>
            <a:r>
              <a:rPr lang="es-ES" sz="3000" dirty="0"/>
              <a:t>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push</a:t>
            </a:r>
            <a:r>
              <a:rPr lang="es-ES" sz="3000" dirty="0"/>
              <a:t> </a:t>
            </a:r>
            <a:r>
              <a:rPr lang="es-ES" sz="3000" dirty="0" err="1"/>
              <a:t>to</a:t>
            </a:r>
            <a:r>
              <a:rPr lang="es-ES" sz="3000" dirty="0"/>
              <a:t>:</a:t>
            </a:r>
            <a:endParaRPr lang="en-US" sz="3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94F4BBC-95C4-1274-5C0E-3F4223949127}"/>
              </a:ext>
            </a:extLst>
          </p:cNvPr>
          <p:cNvSpPr txBox="1"/>
          <p:nvPr/>
        </p:nvSpPr>
        <p:spPr>
          <a:xfrm>
            <a:off x="360506" y="2724539"/>
            <a:ext cx="11321697" cy="1754326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PropertyGroup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EnableSdkContainerSupport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&gt;true&lt;/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EnableSdkContainerSupport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ContainerRepository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jsuarezruiz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mobile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dev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mcp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-server&lt;/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ContainerRepository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ContainerFamily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&gt;alpine&lt;/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ContainerFamily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RuntimeIdentifiers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&gt;linux-x64;linux-arm64&lt;/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RuntimeIdentifiers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PropertyGroup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FDC12A4-43AF-90C4-D4CE-8B827E1FDC3A}"/>
              </a:ext>
            </a:extLst>
          </p:cNvPr>
          <p:cNvSpPr txBox="1"/>
          <p:nvPr/>
        </p:nvSpPr>
        <p:spPr>
          <a:xfrm>
            <a:off x="360507" y="5668822"/>
            <a:ext cx="11321696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dotnet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publish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t:PublishContainer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-p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ContainerRegistry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docker.io</a:t>
            </a:r>
            <a:endParaRPr lang="es-ES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296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765ED-1931-7BD0-974D-50B34819E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EBDDA-A578-241D-721E-81F25F757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Publish a MCP Server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53E06-BB3D-B742-7832-4C5324B9A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1" y="1189179"/>
            <a:ext cx="11653521" cy="8262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000" dirty="0" err="1"/>
              <a:t>We</a:t>
            </a:r>
            <a:r>
              <a:rPr lang="es-ES" sz="3000" dirty="0"/>
              <a:t> can configure </a:t>
            </a:r>
            <a:r>
              <a:rPr lang="es-ES" sz="3000" dirty="0" err="1"/>
              <a:t>the</a:t>
            </a:r>
            <a:r>
              <a:rPr lang="es-ES" sz="3000" dirty="0"/>
              <a:t> MCP </a:t>
            </a:r>
            <a:r>
              <a:rPr lang="es-ES" sz="3000" dirty="0" err="1"/>
              <a:t>on</a:t>
            </a:r>
            <a:r>
              <a:rPr lang="es-ES" sz="3000" dirty="0"/>
              <a:t> VS </a:t>
            </a:r>
            <a:r>
              <a:rPr lang="es-ES" sz="3000" dirty="0" err="1"/>
              <a:t>Code</a:t>
            </a:r>
            <a:r>
              <a:rPr lang="es-ES" sz="3000" dirty="0"/>
              <a:t> </a:t>
            </a:r>
            <a:r>
              <a:rPr lang="es-ES" sz="3000" dirty="0" err="1"/>
              <a:t>or</a:t>
            </a:r>
            <a:r>
              <a:rPr lang="es-ES" sz="3000" dirty="0"/>
              <a:t> </a:t>
            </a:r>
            <a:r>
              <a:rPr lang="es-ES" sz="3000" dirty="0" err="1"/>
              <a:t>other</a:t>
            </a:r>
            <a:r>
              <a:rPr lang="es-ES" sz="3000" dirty="0"/>
              <a:t> tolos in </a:t>
            </a:r>
            <a:r>
              <a:rPr lang="es-ES" sz="3000" dirty="0" err="1"/>
              <a:t>this</a:t>
            </a:r>
            <a:r>
              <a:rPr lang="es-ES" sz="3000" dirty="0"/>
              <a:t> </a:t>
            </a:r>
            <a:r>
              <a:rPr lang="es-ES" sz="3000" dirty="0" err="1"/>
              <a:t>way</a:t>
            </a:r>
            <a:r>
              <a:rPr lang="es-ES" sz="3000" dirty="0"/>
              <a:t>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9EEE17E-477E-2CE2-70D1-6223928D6464}"/>
              </a:ext>
            </a:extLst>
          </p:cNvPr>
          <p:cNvSpPr txBox="1"/>
          <p:nvPr/>
        </p:nvSpPr>
        <p:spPr>
          <a:xfrm>
            <a:off x="436206" y="1943067"/>
            <a:ext cx="11143084" cy="387798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{</a:t>
            </a:r>
          </a:p>
          <a:p>
            <a:r>
              <a:rPr lang="es-ES" sz="1600" dirty="0">
                <a:solidFill>
                  <a:schemeClr val="bg1"/>
                </a:solidFill>
              </a:rPr>
              <a:t>    "inputs": [],</a:t>
            </a:r>
          </a:p>
          <a:p>
            <a:r>
              <a:rPr lang="es-ES" sz="1600" dirty="0">
                <a:solidFill>
                  <a:schemeClr val="bg1"/>
                </a:solidFill>
              </a:rPr>
              <a:t>    "servers": {</a:t>
            </a:r>
          </a:p>
          <a:p>
            <a:r>
              <a:rPr lang="es-ES" sz="1600" dirty="0">
                <a:solidFill>
                  <a:schemeClr val="bg1"/>
                </a:solidFill>
              </a:rPr>
              <a:t>        "</a:t>
            </a:r>
            <a:r>
              <a:rPr lang="es-ES" sz="1600" dirty="0" err="1">
                <a:solidFill>
                  <a:schemeClr val="bg1"/>
                </a:solidFill>
              </a:rPr>
              <a:t>monkeymcp</a:t>
            </a:r>
            <a:r>
              <a:rPr lang="es-ES" sz="1600" dirty="0">
                <a:solidFill>
                  <a:schemeClr val="bg1"/>
                </a:solidFill>
              </a:rPr>
              <a:t>": {</a:t>
            </a:r>
          </a:p>
          <a:p>
            <a:r>
              <a:rPr lang="es-ES" sz="1600" dirty="0">
                <a:solidFill>
                  <a:schemeClr val="bg1"/>
                </a:solidFill>
              </a:rPr>
              <a:t>            "</a:t>
            </a:r>
            <a:r>
              <a:rPr lang="es-ES" sz="1600" dirty="0" err="1">
                <a:solidFill>
                  <a:schemeClr val="bg1"/>
                </a:solidFill>
              </a:rPr>
              <a:t>command</a:t>
            </a:r>
            <a:r>
              <a:rPr lang="es-ES" sz="1600" dirty="0">
                <a:solidFill>
                  <a:schemeClr val="bg1"/>
                </a:solidFill>
              </a:rPr>
              <a:t>": "</a:t>
            </a:r>
            <a:r>
              <a:rPr lang="es-ES" sz="1600" dirty="0" err="1">
                <a:solidFill>
                  <a:schemeClr val="bg1"/>
                </a:solidFill>
              </a:rPr>
              <a:t>docker</a:t>
            </a:r>
            <a:r>
              <a:rPr lang="es-ES" sz="1600" dirty="0">
                <a:solidFill>
                  <a:schemeClr val="bg1"/>
                </a:solidFill>
              </a:rPr>
              <a:t>",</a:t>
            </a:r>
          </a:p>
          <a:p>
            <a:r>
              <a:rPr lang="es-ES" sz="1600" dirty="0">
                <a:solidFill>
                  <a:schemeClr val="bg1"/>
                </a:solidFill>
              </a:rPr>
              <a:t>            "</a:t>
            </a:r>
            <a:r>
              <a:rPr lang="es-ES" sz="1600" dirty="0" err="1">
                <a:solidFill>
                  <a:schemeClr val="bg1"/>
                </a:solidFill>
              </a:rPr>
              <a:t>args</a:t>
            </a:r>
            <a:r>
              <a:rPr lang="es-ES" sz="1600" dirty="0">
                <a:solidFill>
                  <a:schemeClr val="bg1"/>
                </a:solidFill>
              </a:rPr>
              <a:t>": [</a:t>
            </a:r>
          </a:p>
          <a:p>
            <a:r>
              <a:rPr lang="es-ES" sz="1600" dirty="0">
                <a:solidFill>
                  <a:schemeClr val="bg1"/>
                </a:solidFill>
              </a:rPr>
              <a:t>                "run",</a:t>
            </a:r>
          </a:p>
          <a:p>
            <a:r>
              <a:rPr lang="es-ES" sz="1600" dirty="0">
                <a:solidFill>
                  <a:schemeClr val="bg1"/>
                </a:solidFill>
              </a:rPr>
              <a:t>                "-i",</a:t>
            </a:r>
          </a:p>
          <a:p>
            <a:r>
              <a:rPr lang="es-ES" sz="1600" dirty="0">
                <a:solidFill>
                  <a:schemeClr val="bg1"/>
                </a:solidFill>
              </a:rPr>
              <a:t>                "--</a:t>
            </a:r>
            <a:r>
              <a:rPr lang="es-ES" sz="1600" dirty="0" err="1">
                <a:solidFill>
                  <a:schemeClr val="bg1"/>
                </a:solidFill>
              </a:rPr>
              <a:t>rm</a:t>
            </a:r>
            <a:r>
              <a:rPr lang="es-ES" sz="1600" dirty="0">
                <a:solidFill>
                  <a:schemeClr val="bg1"/>
                </a:solidFill>
              </a:rPr>
              <a:t>",</a:t>
            </a:r>
          </a:p>
          <a:p>
            <a:r>
              <a:rPr lang="es-ES" sz="1600" dirty="0">
                <a:solidFill>
                  <a:schemeClr val="bg1"/>
                </a:solidFill>
              </a:rPr>
              <a:t>                ”</a:t>
            </a:r>
            <a:r>
              <a:rPr lang="es-ES" sz="1600" dirty="0" err="1">
                <a:solidFill>
                  <a:schemeClr val="bg1"/>
                </a:solidFill>
              </a:rPr>
              <a:t>jsuarezruiz</a:t>
            </a:r>
            <a:r>
              <a:rPr lang="es-ES" sz="1600" dirty="0">
                <a:solidFill>
                  <a:schemeClr val="bg1"/>
                </a:solidFill>
              </a:rPr>
              <a:t>/</a:t>
            </a:r>
            <a:r>
              <a:rPr lang="es-E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mobile</a:t>
            </a:r>
            <a:r>
              <a:rPr lang="es-E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s-E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dev</a:t>
            </a:r>
            <a:r>
              <a:rPr lang="es-E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s-E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mcp</a:t>
            </a:r>
            <a:r>
              <a:rPr lang="es-E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-server </a:t>
            </a:r>
            <a:r>
              <a:rPr lang="es-ES" sz="1600" dirty="0">
                <a:solidFill>
                  <a:schemeClr val="bg1"/>
                </a:solidFill>
              </a:rPr>
              <a:t>"</a:t>
            </a:r>
          </a:p>
          <a:p>
            <a:r>
              <a:rPr lang="es-ES" sz="1600" dirty="0">
                <a:solidFill>
                  <a:schemeClr val="bg1"/>
                </a:solidFill>
              </a:rPr>
              <a:t>            ],</a:t>
            </a:r>
          </a:p>
          <a:p>
            <a:r>
              <a:rPr lang="es-ES" sz="1600" dirty="0">
                <a:solidFill>
                  <a:schemeClr val="bg1"/>
                </a:solidFill>
              </a:rPr>
              <a:t>            "</a:t>
            </a:r>
            <a:r>
              <a:rPr lang="es-ES" sz="1600" dirty="0" err="1">
                <a:solidFill>
                  <a:schemeClr val="bg1"/>
                </a:solidFill>
              </a:rPr>
              <a:t>env</a:t>
            </a:r>
            <a:r>
              <a:rPr lang="es-ES" sz="1600" dirty="0">
                <a:solidFill>
                  <a:schemeClr val="bg1"/>
                </a:solidFill>
              </a:rPr>
              <a:t>": {}</a:t>
            </a:r>
          </a:p>
          <a:p>
            <a:r>
              <a:rPr lang="es-ES" sz="1600" dirty="0">
                <a:solidFill>
                  <a:schemeClr val="bg1"/>
                </a:solidFill>
              </a:rPr>
              <a:t>        }</a:t>
            </a:r>
          </a:p>
          <a:p>
            <a:r>
              <a:rPr lang="es-ES" sz="1600" dirty="0">
                <a:solidFill>
                  <a:schemeClr val="bg1"/>
                </a:solidFill>
              </a:rPr>
              <a:t>    }</a:t>
            </a:r>
          </a:p>
          <a:p>
            <a:r>
              <a:rPr lang="es-ES" sz="16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87266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BC68-5B5B-0C9E-5545-0C546DBEF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3A631-E301-A4DB-228B-0081EF102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243965"/>
          </a:xfrm>
        </p:spPr>
        <p:txBody>
          <a:bodyPr/>
          <a:lstStyle/>
          <a:p>
            <a:r>
              <a:rPr lang="en-US" sz="2800" dirty="0"/>
              <a:t>Documentation for guides and tutorials: </a:t>
            </a:r>
            <a:r>
              <a:rPr lang="en-US" sz="2800" dirty="0">
                <a:hlinkClick r:id="rId2"/>
              </a:rPr>
              <a:t>https://modelcontextprotocol.io/</a:t>
            </a:r>
            <a:r>
              <a:rPr lang="en-US" sz="2800" dirty="0"/>
              <a:t> </a:t>
            </a:r>
          </a:p>
          <a:p>
            <a:r>
              <a:rPr lang="en-US" sz="2800" dirty="0"/>
              <a:t>Specification for protocol details: </a:t>
            </a:r>
            <a:r>
              <a:rPr lang="en-US" sz="2800" dirty="0">
                <a:hlinkClick r:id="rId3"/>
              </a:rPr>
              <a:t>https://spec.modelcontextprotocol.io/</a:t>
            </a:r>
            <a:r>
              <a:rPr lang="en-US" sz="2800" dirty="0"/>
              <a:t> </a:t>
            </a:r>
          </a:p>
          <a:p>
            <a:r>
              <a:rPr lang="en-US" sz="2800" dirty="0"/>
              <a:t>GitHub: </a:t>
            </a:r>
            <a:r>
              <a:rPr lang="en-US" sz="2800" dirty="0">
                <a:hlinkClick r:id="rId4"/>
              </a:rPr>
              <a:t>https://github.com/modelcontextprotocol</a:t>
            </a:r>
            <a:r>
              <a:rPr lang="en-US" sz="2800" dirty="0"/>
              <a:t> </a:t>
            </a:r>
          </a:p>
          <a:p>
            <a:r>
              <a:rPr lang="en-US" sz="2800" dirty="0"/>
              <a:t>MCP Servers: </a:t>
            </a:r>
            <a:r>
              <a:rPr lang="en-US" sz="2800" dirty="0">
                <a:hlinkClick r:id="rId5"/>
              </a:rPr>
              <a:t>https://github.com/modelcontextprotocol/servers</a:t>
            </a:r>
            <a:endParaRPr lang="en-US" sz="2800" dirty="0"/>
          </a:p>
          <a:p>
            <a:r>
              <a:rPr lang="en-US" sz="2800" dirty="0" err="1"/>
              <a:t>CSharp</a:t>
            </a:r>
            <a:r>
              <a:rPr lang="en-US" sz="2800" dirty="0"/>
              <a:t> SDK: </a:t>
            </a:r>
            <a:r>
              <a:rPr lang="en-US" sz="2800" dirty="0">
                <a:hlinkClick r:id="rId6"/>
              </a:rPr>
              <a:t>https://github.com/modelcontextprotocol/csharp-sdk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261203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279187" y="405856"/>
            <a:ext cx="11531543" cy="4807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105000"/>
              </a:lnSpc>
              <a:spcBef>
                <a:spcPct val="0"/>
              </a:spcBef>
              <a:buNone/>
              <a:defRPr sz="2400" kern="1200" spc="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Questions and answers</a:t>
            </a:r>
            <a:endParaRPr lang="ru-RU" sz="3200" dirty="0">
              <a:solidFill>
                <a:schemeClr val="tx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20"/>
          </p:nvPr>
        </p:nvSpPr>
        <p:spPr>
          <a:xfrm>
            <a:off x="336180" y="1435386"/>
            <a:ext cx="11459569" cy="841652"/>
          </a:xfrm>
        </p:spPr>
        <p:txBody>
          <a:bodyPr/>
          <a:lstStyle/>
          <a:p>
            <a:r>
              <a:rPr lang="en-US" sz="3733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Questions?</a:t>
            </a:r>
            <a:endParaRPr lang="ru-RU" sz="3733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432175" y="2085041"/>
            <a:ext cx="11260075" cy="3071907"/>
          </a:xfrm>
          <a:prstGeom prst="rect">
            <a:avLst/>
          </a:prstGeom>
        </p:spPr>
        <p:txBody>
          <a:bodyPr vert="horz" lIns="121903" tIns="0" rIns="121903" bIns="60952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7675" indent="-180975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20000"/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14375" indent="-2667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90600" indent="-276225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»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129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</a:t>
            </a:r>
            <a:r>
              <a:rPr lang="en-US" sz="1173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&amp;</a:t>
            </a:r>
            <a:r>
              <a:rPr lang="en-US" sz="22129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endParaRPr lang="ru-RU" sz="22129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819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462893" y="2665550"/>
            <a:ext cx="7266213" cy="1526900"/>
          </a:xfrm>
        </p:spPr>
        <p:txBody>
          <a:bodyPr/>
          <a:lstStyle/>
          <a:p>
            <a:r>
              <a:rPr lang="es-ES" sz="8000" b="1" dirty="0" err="1">
                <a:latin typeface="Segoe UI "/>
              </a:rPr>
              <a:t>Thank</a:t>
            </a:r>
            <a:r>
              <a:rPr lang="es-ES" sz="8000" b="1" dirty="0">
                <a:latin typeface="Segoe UI "/>
              </a:rPr>
              <a:t> </a:t>
            </a:r>
            <a:r>
              <a:rPr lang="es-ES" sz="8000" b="1" dirty="0" err="1">
                <a:latin typeface="Segoe UI "/>
              </a:rPr>
              <a:t>you</a:t>
            </a:r>
            <a:r>
              <a:rPr lang="es-ES" sz="8000" b="1" dirty="0">
                <a:latin typeface="Segoe UI "/>
              </a:rPr>
              <a:t> </a:t>
            </a:r>
            <a:r>
              <a:rPr lang="es-ES" sz="8000" b="1" dirty="0" err="1">
                <a:latin typeface="Segoe UI "/>
              </a:rPr>
              <a:t>all</a:t>
            </a:r>
            <a:r>
              <a:rPr lang="es-ES" sz="8000" dirty="0">
                <a:latin typeface="Segoe UI 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2394616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XamarinTemplate">
  <a:themeElements>
    <a:clrScheme name="Build 2015">
      <a:dk1>
        <a:srgbClr val="404040"/>
      </a:dk1>
      <a:lt1>
        <a:srgbClr val="FFFFFF"/>
      </a:lt1>
      <a:dk2>
        <a:srgbClr val="00188F"/>
      </a:dk2>
      <a:lt2>
        <a:srgbClr val="FFFFFF"/>
      </a:lt2>
      <a:accent1>
        <a:srgbClr val="00188F"/>
      </a:accent1>
      <a:accent2>
        <a:srgbClr val="00BCF2"/>
      </a:accent2>
      <a:accent3>
        <a:srgbClr val="B4A0FF"/>
      </a:accent3>
      <a:accent4>
        <a:srgbClr val="BAD80A"/>
      </a:accent4>
      <a:accent5>
        <a:srgbClr val="FF8C00"/>
      </a:accent5>
      <a:accent6>
        <a:srgbClr val="00B294"/>
      </a:accent6>
      <a:hlink>
        <a:srgbClr val="00BCF2"/>
      </a:hlink>
      <a:folHlink>
        <a:srgbClr val="00BCF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lIns="91440" tIns="91440" rIns="34294" bIns="34294" anchor="b" anchorCtr="0"/>
      <a:lstStyle>
        <a:defPPr defTabSz="932406">
          <a:defRPr sz="800" dirty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uild_2015_Template.potx" id="{7B5DF659-5422-4FE0-B774-F31BE53950C5}" vid="{E3F4DD5B-E91A-4E2E-A066-DD68F9821E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7164</TotalTime>
  <Words>1363</Words>
  <Application>Microsoft Macintosh PowerPoint</Application>
  <PresentationFormat>Panorámica</PresentationFormat>
  <Paragraphs>211</Paragraphs>
  <Slides>34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50" baseType="lpstr">
      <vt:lpstr>__Inter_e5ab12</vt:lpstr>
      <vt:lpstr>-apple-system</vt:lpstr>
      <vt:lpstr>Arial</vt:lpstr>
      <vt:lpstr>Calibri</vt:lpstr>
      <vt:lpstr>Consolas</vt:lpstr>
      <vt:lpstr>Lora</vt:lpstr>
      <vt:lpstr>Neue Haas Grotesk Text Pro</vt:lpstr>
      <vt:lpstr>Nirmala UI</vt:lpstr>
      <vt:lpstr>Outfit</vt:lpstr>
      <vt:lpstr>Outfit SemiBold</vt:lpstr>
      <vt:lpstr>Poppins</vt:lpstr>
      <vt:lpstr>Segoe UI</vt:lpstr>
      <vt:lpstr>Segoe UI </vt:lpstr>
      <vt:lpstr>Segoe UI Light</vt:lpstr>
      <vt:lpstr>ui-sans-serif</vt:lpstr>
      <vt:lpstr>XamarinTemplate</vt:lpstr>
      <vt:lpstr>Presentación de PowerPoint</vt:lpstr>
      <vt:lpstr>Javier Suárez Ruiz</vt:lpstr>
      <vt:lpstr>The agenda</vt:lpstr>
      <vt:lpstr>Why? The Need for MCP</vt:lpstr>
      <vt:lpstr>Typical AI Application with Single-Agent Architecture</vt:lpstr>
      <vt:lpstr>Challenges with Current AI Applications</vt:lpstr>
      <vt:lpstr>Pain Points for Developers</vt:lpstr>
      <vt:lpstr>The Demand for Standardization</vt:lpstr>
      <vt:lpstr>What? Understanding MCP</vt:lpstr>
      <vt:lpstr>What is the Model Context Protocol (MCP)?</vt:lpstr>
      <vt:lpstr>Timeline &amp; Trend</vt:lpstr>
      <vt:lpstr>Presentación de PowerPoint</vt:lpstr>
      <vt:lpstr>With MCP: Standardized AI Development​</vt:lpstr>
      <vt:lpstr>General Architecture</vt:lpstr>
      <vt:lpstr>Core Components</vt:lpstr>
      <vt:lpstr>Transports</vt:lpstr>
      <vt:lpstr>stdio </vt:lpstr>
      <vt:lpstr>HTTP with SSE</vt:lpstr>
      <vt:lpstr>Server Features</vt:lpstr>
      <vt:lpstr>How? Using and Implementing MCP</vt:lpstr>
      <vt:lpstr>Using MCP</vt:lpstr>
      <vt:lpstr>Popular Applications that support MCP</vt:lpstr>
      <vt:lpstr>Popular MCP Server Registry</vt:lpstr>
      <vt:lpstr>VS Code support MCP now!</vt:lpstr>
      <vt:lpstr>Install/config MCP Server in VS Code</vt:lpstr>
      <vt:lpstr>Implementing MCP</vt:lpstr>
      <vt:lpstr>Create a MCP Server</vt:lpstr>
      <vt:lpstr>Starting up our server</vt:lpstr>
      <vt:lpstr>Defining a tool</vt:lpstr>
      <vt:lpstr>Publish a MCP Server</vt:lpstr>
      <vt:lpstr>Publish a MCP Server</vt:lpstr>
      <vt:lpstr>Resources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Montemagno</dc:creator>
  <cp:lastModifiedBy>Javier Suarez</cp:lastModifiedBy>
  <cp:revision>286</cp:revision>
  <dcterms:created xsi:type="dcterms:W3CDTF">2015-05-05T21:43:30Z</dcterms:created>
  <dcterms:modified xsi:type="dcterms:W3CDTF">2025-04-09T16:04:07Z</dcterms:modified>
</cp:coreProperties>
</file>